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8229600" cx="14630400"/>
  <p:notesSz cx="8229600" cy="14630400"/>
  <p:embeddedFontLst>
    <p:embeddedFont>
      <p:font typeface="IBM Plex Sans"/>
      <p:regular r:id="rId19"/>
      <p:bold r:id="rId20"/>
      <p:italic r:id="rId21"/>
      <p:boldItalic r:id="rId22"/>
    </p:embeddedFont>
    <p:embeddedFont>
      <p:font typeface="Alexandria Medium"/>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i6ysN/NL81Fmw0mDJFD/s3ifyA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BMPlexSans-bold.fntdata"/><Relationship Id="rId22" Type="http://schemas.openxmlformats.org/officeDocument/2006/relationships/font" Target="fonts/IBMPlexSans-boldItalic.fntdata"/><Relationship Id="rId21" Type="http://schemas.openxmlformats.org/officeDocument/2006/relationships/font" Target="fonts/IBMPlexSans-italic.fntdata"/><Relationship Id="rId24" Type="http://schemas.openxmlformats.org/officeDocument/2006/relationships/font" Target="fonts/AlexandriaMedium-bold.fntdata"/><Relationship Id="rId23" Type="http://schemas.openxmlformats.org/officeDocument/2006/relationships/font" Target="fonts/AlexandriaMedium-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IBMPlexSans-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2" name="Google Shape;52;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4" name="Google Shape;6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3" name="Google Shape;8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4" name="Google Shape;10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2" name="Google Shape;11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0" name="Google Shape;12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7" name="Google Shape;12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9" name="Google Shape;139;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47" name="Google Shape;147;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4" name="Google Shape;16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6" name="Google Shape;176;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Key talking points: Revenue potential through premium features, API partnerships, and increased user engagement metrics.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 prepared to discuss integration timeline and partnership opportunities.</a:t>
            </a:r>
            <a:endParaRPr/>
          </a:p>
        </p:txBody>
      </p:sp>
      <p:sp>
        <p:nvSpPr>
          <p:cNvPr id="194" name="Google Shape;19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9" name="Google Shape;209;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8" name="Google Shape;218;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6" name="Shape 6"/>
        <p:cNvGrpSpPr/>
        <p:nvPr/>
      </p:nvGrpSpPr>
      <p:grpSpPr>
        <a:xfrm>
          <a:off x="0" y="0"/>
          <a:ext cx="0" cy="0"/>
          <a:chOff x="0" y="0"/>
          <a:chExt cx="0" cy="0"/>
        </a:xfrm>
      </p:grpSpPr>
      <p:sp>
        <p:nvSpPr>
          <p:cNvPr id="7" name="Google Shape;7;p16"/>
          <p:cNvSpPr/>
          <p:nvPr/>
        </p:nvSpPr>
        <p:spPr>
          <a:xfrm>
            <a:off x="0" y="0"/>
            <a:ext cx="14630400" cy="8229600"/>
          </a:xfrm>
          <a:prstGeom prst="rect">
            <a:avLst/>
          </a:prstGeom>
          <a:solidFill>
            <a:srgbClr val="DDCF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6"/>
          <p:cNvSpPr/>
          <p:nvPr/>
        </p:nvSpPr>
        <p:spPr>
          <a:xfrm>
            <a:off x="0" y="0"/>
            <a:ext cx="14630400" cy="8229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9" name="Shape 9"/>
        <p:cNvGrpSpPr/>
        <p:nvPr/>
      </p:nvGrpSpPr>
      <p:grpSpPr>
        <a:xfrm>
          <a:off x="0" y="0"/>
          <a:ext cx="0" cy="0"/>
          <a:chOff x="0" y="0"/>
          <a:chExt cx="0" cy="0"/>
        </a:xfrm>
      </p:grpSpPr>
      <p:sp>
        <p:nvSpPr>
          <p:cNvPr id="10" name="Google Shape;10;p17"/>
          <p:cNvSpPr/>
          <p:nvPr/>
        </p:nvSpPr>
        <p:spPr>
          <a:xfrm>
            <a:off x="0" y="0"/>
            <a:ext cx="14630400" cy="8229600"/>
          </a:xfrm>
          <a:prstGeom prst="rect">
            <a:avLst/>
          </a:prstGeom>
          <a:solidFill>
            <a:srgbClr val="DDCF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7"/>
          <p:cNvSpPr/>
          <p:nvPr/>
        </p:nvSpPr>
        <p:spPr>
          <a:xfrm>
            <a:off x="0" y="0"/>
            <a:ext cx="14630400" cy="8229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2" name="Shape 12"/>
        <p:cNvGrpSpPr/>
        <p:nvPr/>
      </p:nvGrpSpPr>
      <p:grpSpPr>
        <a:xfrm>
          <a:off x="0" y="0"/>
          <a:ext cx="0" cy="0"/>
          <a:chOff x="0" y="0"/>
          <a:chExt cx="0" cy="0"/>
        </a:xfrm>
      </p:grpSpPr>
      <p:sp>
        <p:nvSpPr>
          <p:cNvPr id="13" name="Google Shape;13;p18"/>
          <p:cNvSpPr/>
          <p:nvPr/>
        </p:nvSpPr>
        <p:spPr>
          <a:xfrm>
            <a:off x="0" y="0"/>
            <a:ext cx="14630400" cy="8229600"/>
          </a:xfrm>
          <a:prstGeom prst="rect">
            <a:avLst/>
          </a:prstGeom>
          <a:solidFill>
            <a:srgbClr val="DDCF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8"/>
          <p:cNvSpPr/>
          <p:nvPr/>
        </p:nvSpPr>
        <p:spPr>
          <a:xfrm>
            <a:off x="0" y="0"/>
            <a:ext cx="14630400" cy="8229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5" name="Shape 15"/>
        <p:cNvGrpSpPr/>
        <p:nvPr/>
      </p:nvGrpSpPr>
      <p:grpSpPr>
        <a:xfrm>
          <a:off x="0" y="0"/>
          <a:ext cx="0" cy="0"/>
          <a:chOff x="0" y="0"/>
          <a:chExt cx="0" cy="0"/>
        </a:xfrm>
      </p:grpSpPr>
      <p:sp>
        <p:nvSpPr>
          <p:cNvPr id="16" name="Google Shape;16;p19"/>
          <p:cNvSpPr/>
          <p:nvPr/>
        </p:nvSpPr>
        <p:spPr>
          <a:xfrm>
            <a:off x="0" y="0"/>
            <a:ext cx="14630400" cy="8229600"/>
          </a:xfrm>
          <a:prstGeom prst="rect">
            <a:avLst/>
          </a:prstGeom>
          <a:solidFill>
            <a:srgbClr val="DDCF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9"/>
          <p:cNvSpPr/>
          <p:nvPr/>
        </p:nvSpPr>
        <p:spPr>
          <a:xfrm>
            <a:off x="0" y="0"/>
            <a:ext cx="14630400" cy="8229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18" name="Shape 18"/>
        <p:cNvGrpSpPr/>
        <p:nvPr/>
      </p:nvGrpSpPr>
      <p:grpSpPr>
        <a:xfrm>
          <a:off x="0" y="0"/>
          <a:ext cx="0" cy="0"/>
          <a:chOff x="0" y="0"/>
          <a:chExt cx="0" cy="0"/>
        </a:xfrm>
      </p:grpSpPr>
      <p:sp>
        <p:nvSpPr>
          <p:cNvPr id="19" name="Google Shape;19;p20"/>
          <p:cNvSpPr/>
          <p:nvPr/>
        </p:nvSpPr>
        <p:spPr>
          <a:xfrm>
            <a:off x="0" y="0"/>
            <a:ext cx="14630400" cy="8229600"/>
          </a:xfrm>
          <a:prstGeom prst="rect">
            <a:avLst/>
          </a:prstGeom>
          <a:solidFill>
            <a:srgbClr val="DDCF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0"/>
          <p:cNvSpPr/>
          <p:nvPr/>
        </p:nvSpPr>
        <p:spPr>
          <a:xfrm>
            <a:off x="0" y="0"/>
            <a:ext cx="14630400" cy="8229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1" name="Shape 21"/>
        <p:cNvGrpSpPr/>
        <p:nvPr/>
      </p:nvGrpSpPr>
      <p:grpSpPr>
        <a:xfrm>
          <a:off x="0" y="0"/>
          <a:ext cx="0" cy="0"/>
          <a:chOff x="0" y="0"/>
          <a:chExt cx="0" cy="0"/>
        </a:xfrm>
      </p:grpSpPr>
      <p:sp>
        <p:nvSpPr>
          <p:cNvPr id="22" name="Google Shape;22;p21"/>
          <p:cNvSpPr/>
          <p:nvPr/>
        </p:nvSpPr>
        <p:spPr>
          <a:xfrm>
            <a:off x="0" y="0"/>
            <a:ext cx="14630400" cy="8229600"/>
          </a:xfrm>
          <a:prstGeom prst="rect">
            <a:avLst/>
          </a:prstGeom>
          <a:solidFill>
            <a:srgbClr val="DDCF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1"/>
          <p:cNvSpPr/>
          <p:nvPr/>
        </p:nvSpPr>
        <p:spPr>
          <a:xfrm>
            <a:off x="0" y="0"/>
            <a:ext cx="14630400" cy="8229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4" name="Shape 24"/>
        <p:cNvGrpSpPr/>
        <p:nvPr/>
      </p:nvGrpSpPr>
      <p:grpSpPr>
        <a:xfrm>
          <a:off x="0" y="0"/>
          <a:ext cx="0" cy="0"/>
          <a:chOff x="0" y="0"/>
          <a:chExt cx="0" cy="0"/>
        </a:xfrm>
      </p:grpSpPr>
      <p:sp>
        <p:nvSpPr>
          <p:cNvPr id="25" name="Google Shape;25;p22"/>
          <p:cNvSpPr/>
          <p:nvPr/>
        </p:nvSpPr>
        <p:spPr>
          <a:xfrm>
            <a:off x="0" y="0"/>
            <a:ext cx="14630400" cy="8229600"/>
          </a:xfrm>
          <a:prstGeom prst="rect">
            <a:avLst/>
          </a:prstGeom>
          <a:solidFill>
            <a:srgbClr val="DDCF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2"/>
          <p:cNvSpPr/>
          <p:nvPr/>
        </p:nvSpPr>
        <p:spPr>
          <a:xfrm>
            <a:off x="0" y="0"/>
            <a:ext cx="14630400" cy="8229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27" name="Shape 27"/>
        <p:cNvGrpSpPr/>
        <p:nvPr/>
      </p:nvGrpSpPr>
      <p:grpSpPr>
        <a:xfrm>
          <a:off x="0" y="0"/>
          <a:ext cx="0" cy="0"/>
          <a:chOff x="0" y="0"/>
          <a:chExt cx="0" cy="0"/>
        </a:xfrm>
      </p:grpSpPr>
      <p:sp>
        <p:nvSpPr>
          <p:cNvPr id="28" name="Google Shape;28;p23"/>
          <p:cNvSpPr/>
          <p:nvPr/>
        </p:nvSpPr>
        <p:spPr>
          <a:xfrm>
            <a:off x="0" y="0"/>
            <a:ext cx="14630400" cy="8229600"/>
          </a:xfrm>
          <a:prstGeom prst="rect">
            <a:avLst/>
          </a:prstGeom>
          <a:solidFill>
            <a:srgbClr val="DDCF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3"/>
          <p:cNvSpPr/>
          <p:nvPr/>
        </p:nvSpPr>
        <p:spPr>
          <a:xfrm>
            <a:off x="0" y="0"/>
            <a:ext cx="14630400" cy="8229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0" name="Shape 30"/>
        <p:cNvGrpSpPr/>
        <p:nvPr/>
      </p:nvGrpSpPr>
      <p:grpSpPr>
        <a:xfrm>
          <a:off x="0" y="0"/>
          <a:ext cx="0" cy="0"/>
          <a:chOff x="0" y="0"/>
          <a:chExt cx="0" cy="0"/>
        </a:xfrm>
      </p:grpSpPr>
      <p:sp>
        <p:nvSpPr>
          <p:cNvPr id="31" name="Google Shape;31;p24"/>
          <p:cNvSpPr/>
          <p:nvPr/>
        </p:nvSpPr>
        <p:spPr>
          <a:xfrm>
            <a:off x="0" y="0"/>
            <a:ext cx="14630400" cy="8229600"/>
          </a:xfrm>
          <a:prstGeom prst="rect">
            <a:avLst/>
          </a:prstGeom>
          <a:solidFill>
            <a:srgbClr val="DDCF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4"/>
          <p:cNvSpPr/>
          <p:nvPr/>
        </p:nvSpPr>
        <p:spPr>
          <a:xfrm>
            <a:off x="0" y="0"/>
            <a:ext cx="14630400" cy="8229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3" name="Shape 33"/>
        <p:cNvGrpSpPr/>
        <p:nvPr/>
      </p:nvGrpSpPr>
      <p:grpSpPr>
        <a:xfrm>
          <a:off x="0" y="0"/>
          <a:ext cx="0" cy="0"/>
          <a:chOff x="0" y="0"/>
          <a:chExt cx="0" cy="0"/>
        </a:xfrm>
      </p:grpSpPr>
      <p:sp>
        <p:nvSpPr>
          <p:cNvPr id="34" name="Google Shape;34;p25"/>
          <p:cNvSpPr/>
          <p:nvPr/>
        </p:nvSpPr>
        <p:spPr>
          <a:xfrm>
            <a:off x="0" y="0"/>
            <a:ext cx="14630400" cy="8229600"/>
          </a:xfrm>
          <a:prstGeom prst="rect">
            <a:avLst/>
          </a:prstGeom>
          <a:solidFill>
            <a:srgbClr val="DDCF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5"/>
          <p:cNvSpPr/>
          <p:nvPr/>
        </p:nvSpPr>
        <p:spPr>
          <a:xfrm>
            <a:off x="0" y="0"/>
            <a:ext cx="14630400" cy="8229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36" name="Shape 36"/>
        <p:cNvGrpSpPr/>
        <p:nvPr/>
      </p:nvGrpSpPr>
      <p:grpSpPr>
        <a:xfrm>
          <a:off x="0" y="0"/>
          <a:ext cx="0" cy="0"/>
          <a:chOff x="0" y="0"/>
          <a:chExt cx="0" cy="0"/>
        </a:xfrm>
      </p:grpSpPr>
      <p:sp>
        <p:nvSpPr>
          <p:cNvPr id="37" name="Google Shape;37;p26"/>
          <p:cNvSpPr/>
          <p:nvPr/>
        </p:nvSpPr>
        <p:spPr>
          <a:xfrm>
            <a:off x="0" y="0"/>
            <a:ext cx="14630400" cy="8229600"/>
          </a:xfrm>
          <a:prstGeom prst="rect">
            <a:avLst/>
          </a:prstGeom>
          <a:solidFill>
            <a:srgbClr val="DDCF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6"/>
          <p:cNvSpPr/>
          <p:nvPr/>
        </p:nvSpPr>
        <p:spPr>
          <a:xfrm>
            <a:off x="0" y="0"/>
            <a:ext cx="14630400" cy="8229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39" name="Shape 39"/>
        <p:cNvGrpSpPr/>
        <p:nvPr/>
      </p:nvGrpSpPr>
      <p:grpSpPr>
        <a:xfrm>
          <a:off x="0" y="0"/>
          <a:ext cx="0" cy="0"/>
          <a:chOff x="0" y="0"/>
          <a:chExt cx="0" cy="0"/>
        </a:xfrm>
      </p:grpSpPr>
      <p:sp>
        <p:nvSpPr>
          <p:cNvPr id="40" name="Google Shape;40;p27"/>
          <p:cNvSpPr/>
          <p:nvPr/>
        </p:nvSpPr>
        <p:spPr>
          <a:xfrm>
            <a:off x="0" y="0"/>
            <a:ext cx="14630400" cy="8229600"/>
          </a:xfrm>
          <a:prstGeom prst="rect">
            <a:avLst/>
          </a:prstGeom>
          <a:solidFill>
            <a:srgbClr val="DDCF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7"/>
          <p:cNvSpPr/>
          <p:nvPr/>
        </p:nvSpPr>
        <p:spPr>
          <a:xfrm>
            <a:off x="0" y="0"/>
            <a:ext cx="14630400" cy="8229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42" name="Shape 42"/>
        <p:cNvGrpSpPr/>
        <p:nvPr/>
      </p:nvGrpSpPr>
      <p:grpSpPr>
        <a:xfrm>
          <a:off x="0" y="0"/>
          <a:ext cx="0" cy="0"/>
          <a:chOff x="0" y="0"/>
          <a:chExt cx="0" cy="0"/>
        </a:xfrm>
      </p:grpSpPr>
      <p:sp>
        <p:nvSpPr>
          <p:cNvPr id="43" name="Google Shape;43;p28"/>
          <p:cNvSpPr/>
          <p:nvPr/>
        </p:nvSpPr>
        <p:spPr>
          <a:xfrm>
            <a:off x="0" y="0"/>
            <a:ext cx="14630400" cy="8229600"/>
          </a:xfrm>
          <a:prstGeom prst="rect">
            <a:avLst/>
          </a:prstGeom>
          <a:solidFill>
            <a:srgbClr val="DDCF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8"/>
          <p:cNvSpPr/>
          <p:nvPr/>
        </p:nvSpPr>
        <p:spPr>
          <a:xfrm>
            <a:off x="0" y="0"/>
            <a:ext cx="14630400" cy="8229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45" name="Shape 45"/>
        <p:cNvGrpSpPr/>
        <p:nvPr/>
      </p:nvGrpSpPr>
      <p:grpSpPr>
        <a:xfrm>
          <a:off x="0" y="0"/>
          <a:ext cx="0" cy="0"/>
          <a:chOff x="0" y="0"/>
          <a:chExt cx="0" cy="0"/>
        </a:xfrm>
      </p:grpSpPr>
      <p:sp>
        <p:nvSpPr>
          <p:cNvPr id="46" name="Google Shape;46;p29"/>
          <p:cNvSpPr/>
          <p:nvPr/>
        </p:nvSpPr>
        <p:spPr>
          <a:xfrm>
            <a:off x="0" y="0"/>
            <a:ext cx="14630400" cy="8229600"/>
          </a:xfrm>
          <a:prstGeom prst="rect">
            <a:avLst/>
          </a:prstGeom>
          <a:solidFill>
            <a:srgbClr val="DDCF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9"/>
          <p:cNvSpPr/>
          <p:nvPr/>
        </p:nvSpPr>
        <p:spPr>
          <a:xfrm>
            <a:off x="0" y="0"/>
            <a:ext cx="14630400" cy="8229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8" name="Shape 4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preencoded.png" id="54" name="Google Shape;54;p1"/>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55" name="Google Shape;55;p1"/>
          <p:cNvSpPr/>
          <p:nvPr/>
        </p:nvSpPr>
        <p:spPr>
          <a:xfrm>
            <a:off x="6280190" y="1541978"/>
            <a:ext cx="625090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Alexandria Medium"/>
              <a:buNone/>
            </a:pPr>
            <a:r>
              <a:t/>
            </a:r>
            <a:endParaRPr b="1" i="0" sz="2200" u="none" cap="none" strike="noStrike">
              <a:solidFill>
                <a:schemeClr val="dk1"/>
              </a:solidFill>
              <a:latin typeface="Calibri"/>
              <a:ea typeface="Calibri"/>
              <a:cs typeface="Calibri"/>
              <a:sym typeface="Calibri"/>
            </a:endParaRPr>
          </a:p>
        </p:txBody>
      </p:sp>
      <p:sp>
        <p:nvSpPr>
          <p:cNvPr id="56" name="Google Shape;56;p1"/>
          <p:cNvSpPr/>
          <p:nvPr/>
        </p:nvSpPr>
        <p:spPr>
          <a:xfrm>
            <a:off x="6280190" y="2123122"/>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5CC97B"/>
              </a:buClr>
              <a:buSzPts val="4450"/>
              <a:buFont typeface="Alexandria Medium"/>
              <a:buNone/>
            </a:pPr>
            <a:r>
              <a:rPr b="1" i="0" lang="en-US" sz="4450" u="none" cap="none" strike="noStrike">
                <a:solidFill>
                  <a:srgbClr val="5CC97B"/>
                </a:solidFill>
                <a:latin typeface="Alexandria Medium"/>
                <a:ea typeface="Alexandria Medium"/>
                <a:cs typeface="Alexandria Medium"/>
                <a:sym typeface="Alexandria Medium"/>
              </a:rPr>
              <a:t>Optimizing Spotify Music Discovery Experience</a:t>
            </a:r>
            <a:endParaRPr b="1" i="0" sz="4450" u="none" cap="none" strike="noStrike">
              <a:solidFill>
                <a:schemeClr val="dk1"/>
              </a:solidFill>
              <a:latin typeface="Calibri"/>
              <a:ea typeface="Calibri"/>
              <a:cs typeface="Calibri"/>
              <a:sym typeface="Calibri"/>
            </a:endParaRPr>
          </a:p>
        </p:txBody>
      </p:sp>
      <p:sp>
        <p:nvSpPr>
          <p:cNvPr id="57" name="Google Shape;57;p1"/>
          <p:cNvSpPr/>
          <p:nvPr/>
        </p:nvSpPr>
        <p:spPr>
          <a:xfrm>
            <a:off x="6903839" y="413599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Alexandria Medium"/>
              <a:buNone/>
            </a:pPr>
            <a:r>
              <a:t/>
            </a:r>
            <a:endParaRPr b="1" i="0" sz="2200" u="none" cap="none" strike="noStrike">
              <a:solidFill>
                <a:schemeClr val="dk1"/>
              </a:solidFill>
              <a:latin typeface="Calibri"/>
              <a:ea typeface="Calibri"/>
              <a:cs typeface="Calibri"/>
              <a:sym typeface="Calibri"/>
            </a:endParaRPr>
          </a:p>
        </p:txBody>
      </p:sp>
      <p:sp>
        <p:nvSpPr>
          <p:cNvPr id="58" name="Google Shape;58;p1"/>
          <p:cNvSpPr/>
          <p:nvPr/>
        </p:nvSpPr>
        <p:spPr>
          <a:xfrm>
            <a:off x="6280190" y="4490329"/>
            <a:ext cx="396900" cy="396900"/>
          </a:xfrm>
          <a:prstGeom prst="roundRect">
            <a:avLst>
              <a:gd fmla="val 857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
          <p:cNvSpPr/>
          <p:nvPr/>
        </p:nvSpPr>
        <p:spPr>
          <a:xfrm>
            <a:off x="7087639" y="4490329"/>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Alexandria Medium"/>
              <a:buNone/>
            </a:pPr>
            <a:r>
              <a:rPr b="1" i="0" lang="en-US" sz="2200" u="none" cap="none" strike="noStrike">
                <a:solidFill>
                  <a:srgbClr val="FFFFFF"/>
                </a:solidFill>
                <a:latin typeface="Alexandria Medium"/>
                <a:ea typeface="Alexandria Medium"/>
                <a:cs typeface="Alexandria Medium"/>
                <a:sym typeface="Alexandria Medium"/>
              </a:rPr>
              <a:t>Project Overview</a:t>
            </a:r>
            <a:endParaRPr b="1" i="0" sz="2200" u="none" cap="none" strike="noStrike">
              <a:solidFill>
                <a:schemeClr val="dk1"/>
              </a:solidFill>
              <a:latin typeface="Calibri"/>
              <a:ea typeface="Calibri"/>
              <a:cs typeface="Calibri"/>
              <a:sym typeface="Calibri"/>
            </a:endParaRPr>
          </a:p>
        </p:txBody>
      </p:sp>
      <p:sp>
        <p:nvSpPr>
          <p:cNvPr id="60" name="Google Shape;60;p1"/>
          <p:cNvSpPr/>
          <p:nvPr/>
        </p:nvSpPr>
        <p:spPr>
          <a:xfrm>
            <a:off x="6903839" y="5028448"/>
            <a:ext cx="6932700" cy="725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5CC97B"/>
              </a:buClr>
              <a:buSzPts val="1750"/>
              <a:buFont typeface="IBM Plex Sans"/>
              <a:buNone/>
            </a:pPr>
            <a:r>
              <a:rPr b="0" i="0" lang="en-US" sz="1750" u="none" cap="none" strike="noStrike">
                <a:solidFill>
                  <a:srgbClr val="5CC97B"/>
                </a:solidFill>
                <a:latin typeface="IBM Plex Sans"/>
                <a:ea typeface="IBM Plex Sans"/>
                <a:cs typeface="IBM Plex Sans"/>
                <a:sym typeface="IBM Plex Sans"/>
              </a:rPr>
              <a:t>Developing an innovative song </a:t>
            </a:r>
            <a:r>
              <a:rPr lang="en-US" sz="1750">
                <a:solidFill>
                  <a:srgbClr val="5CC97B"/>
                </a:solidFill>
                <a:latin typeface="IBM Plex Sans"/>
                <a:ea typeface="IBM Plex Sans"/>
                <a:cs typeface="IBM Plex Sans"/>
                <a:sym typeface="IBM Plex Sans"/>
              </a:rPr>
              <a:t>recommender</a:t>
            </a:r>
            <a:r>
              <a:rPr b="0" i="0" lang="en-US" sz="1750" u="none" cap="none" strike="noStrike">
                <a:solidFill>
                  <a:srgbClr val="5CC97B"/>
                </a:solidFill>
                <a:latin typeface="IBM Plex Sans"/>
                <a:ea typeface="IBM Plex Sans"/>
                <a:cs typeface="IBM Plex Sans"/>
                <a:sym typeface="IBM Plex Sans"/>
              </a:rPr>
              <a:t> feature to create a more personalized music discovery experience for Spotify users</a:t>
            </a:r>
            <a:endParaRPr b="0" i="0" sz="17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descr="preencoded.png" id="66" name="Google Shape;66;p2"/>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67" name="Google Shape;67;p2"/>
          <p:cNvSpPr/>
          <p:nvPr/>
        </p:nvSpPr>
        <p:spPr>
          <a:xfrm>
            <a:off x="6236494" y="762238"/>
            <a:ext cx="7643813" cy="133945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CC97B"/>
              </a:buClr>
              <a:buSzPts val="4200"/>
              <a:buFont typeface="Alexandria Medium"/>
              <a:buNone/>
            </a:pPr>
            <a:r>
              <a:rPr b="1" lang="en-US" sz="4200">
                <a:solidFill>
                  <a:srgbClr val="5CC97B"/>
                </a:solidFill>
                <a:latin typeface="Alexandria Medium"/>
                <a:ea typeface="Alexandria Medium"/>
                <a:cs typeface="Alexandria Medium"/>
                <a:sym typeface="Alexandria Medium"/>
              </a:rPr>
              <a:t>Project Overview &amp; Objectives</a:t>
            </a:r>
            <a:endParaRPr b="1" sz="4200">
              <a:solidFill>
                <a:schemeClr val="dk1"/>
              </a:solidFill>
              <a:latin typeface="Calibri"/>
              <a:ea typeface="Calibri"/>
              <a:cs typeface="Calibri"/>
              <a:sym typeface="Calibri"/>
            </a:endParaRPr>
          </a:p>
        </p:txBody>
      </p:sp>
      <p:sp>
        <p:nvSpPr>
          <p:cNvPr id="68" name="Google Shape;68;p2"/>
          <p:cNvSpPr/>
          <p:nvPr/>
        </p:nvSpPr>
        <p:spPr>
          <a:xfrm>
            <a:off x="6236494" y="2664262"/>
            <a:ext cx="482203" cy="482203"/>
          </a:xfrm>
          <a:prstGeom prst="roundRect">
            <a:avLst>
              <a:gd fmla="val 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6416159" y="2744629"/>
            <a:ext cx="122873" cy="32146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500"/>
              <a:buFont typeface="Alexandria Medium"/>
              <a:buNone/>
            </a:pPr>
            <a:r>
              <a:rPr lang="en-US" sz="2500">
                <a:solidFill>
                  <a:srgbClr val="000000"/>
                </a:solidFill>
                <a:latin typeface="Alexandria Medium"/>
                <a:ea typeface="Alexandria Medium"/>
                <a:cs typeface="Alexandria Medium"/>
                <a:sym typeface="Alexandria Medium"/>
              </a:rPr>
              <a:t>1</a:t>
            </a:r>
            <a:endParaRPr sz="2500">
              <a:solidFill>
                <a:schemeClr val="dk1"/>
              </a:solidFill>
              <a:latin typeface="Calibri"/>
              <a:ea typeface="Calibri"/>
              <a:cs typeface="Calibri"/>
              <a:sym typeface="Calibri"/>
            </a:endParaRPr>
          </a:p>
        </p:txBody>
      </p:sp>
      <p:sp>
        <p:nvSpPr>
          <p:cNvPr id="70" name="Google Shape;70;p2"/>
          <p:cNvSpPr/>
          <p:nvPr/>
        </p:nvSpPr>
        <p:spPr>
          <a:xfrm>
            <a:off x="6933009" y="2664262"/>
            <a:ext cx="3018234" cy="669608"/>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5CC97B"/>
              </a:buClr>
              <a:buSzPts val="2100"/>
              <a:buFont typeface="Alexandria Medium"/>
              <a:buNone/>
            </a:pPr>
            <a:r>
              <a:rPr b="1" lang="en-US" sz="2100">
                <a:solidFill>
                  <a:srgbClr val="5CC97B"/>
                </a:solidFill>
                <a:latin typeface="Alexandria Medium"/>
                <a:ea typeface="Alexandria Medium"/>
                <a:cs typeface="Alexandria Medium"/>
                <a:sym typeface="Alexandria Medium"/>
              </a:rPr>
              <a:t>Enhance User Experience</a:t>
            </a:r>
            <a:endParaRPr b="1" sz="2100">
              <a:solidFill>
                <a:schemeClr val="dk1"/>
              </a:solidFill>
              <a:latin typeface="Calibri"/>
              <a:ea typeface="Calibri"/>
              <a:cs typeface="Calibri"/>
              <a:sym typeface="Calibri"/>
            </a:endParaRPr>
          </a:p>
        </p:txBody>
      </p:sp>
      <p:sp>
        <p:nvSpPr>
          <p:cNvPr id="71" name="Google Shape;71;p2"/>
          <p:cNvSpPr/>
          <p:nvPr/>
        </p:nvSpPr>
        <p:spPr>
          <a:xfrm>
            <a:off x="6933009" y="3462457"/>
            <a:ext cx="3018234" cy="17145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FFFFFF"/>
              </a:buClr>
              <a:buSzPts val="1650"/>
              <a:buFont typeface="IBM Plex Sans"/>
              <a:buNone/>
            </a:pPr>
            <a:r>
              <a:rPr lang="en-US" sz="1650">
                <a:solidFill>
                  <a:srgbClr val="FFFFFF"/>
                </a:solidFill>
                <a:latin typeface="IBM Plex Sans"/>
                <a:ea typeface="IBM Plex Sans"/>
                <a:cs typeface="IBM Plex Sans"/>
                <a:sym typeface="IBM Plex Sans"/>
              </a:rPr>
              <a:t>Design an innovative feature for Spotify to improve user engagement through personalized music discovery experiences.</a:t>
            </a:r>
            <a:endParaRPr sz="1650">
              <a:solidFill>
                <a:schemeClr val="dk1"/>
              </a:solidFill>
              <a:latin typeface="Calibri"/>
              <a:ea typeface="Calibri"/>
              <a:cs typeface="Calibri"/>
              <a:sym typeface="Calibri"/>
            </a:endParaRPr>
          </a:p>
        </p:txBody>
      </p:sp>
      <p:sp>
        <p:nvSpPr>
          <p:cNvPr id="72" name="Google Shape;72;p2"/>
          <p:cNvSpPr/>
          <p:nvPr/>
        </p:nvSpPr>
        <p:spPr>
          <a:xfrm>
            <a:off x="10165556" y="2664262"/>
            <a:ext cx="482203" cy="482203"/>
          </a:xfrm>
          <a:prstGeom prst="roundRect">
            <a:avLst>
              <a:gd fmla="val 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10311765" y="2744629"/>
            <a:ext cx="189667" cy="32146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500"/>
              <a:buFont typeface="Alexandria Medium"/>
              <a:buNone/>
            </a:pPr>
            <a:r>
              <a:rPr lang="en-US" sz="2500">
                <a:solidFill>
                  <a:srgbClr val="000000"/>
                </a:solidFill>
                <a:latin typeface="Alexandria Medium"/>
                <a:ea typeface="Alexandria Medium"/>
                <a:cs typeface="Alexandria Medium"/>
                <a:sym typeface="Alexandria Medium"/>
              </a:rPr>
              <a:t>2</a:t>
            </a:r>
            <a:endParaRPr sz="2500">
              <a:solidFill>
                <a:schemeClr val="dk1"/>
              </a:solidFill>
              <a:latin typeface="Calibri"/>
              <a:ea typeface="Calibri"/>
              <a:cs typeface="Calibri"/>
              <a:sym typeface="Calibri"/>
            </a:endParaRPr>
          </a:p>
        </p:txBody>
      </p:sp>
      <p:sp>
        <p:nvSpPr>
          <p:cNvPr id="74" name="Google Shape;74;p2"/>
          <p:cNvSpPr/>
          <p:nvPr/>
        </p:nvSpPr>
        <p:spPr>
          <a:xfrm>
            <a:off x="10862072" y="2664262"/>
            <a:ext cx="3018234" cy="669608"/>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5CC97B"/>
              </a:buClr>
              <a:buSzPts val="2100"/>
              <a:buFont typeface="Alexandria Medium"/>
              <a:buNone/>
            </a:pPr>
            <a:r>
              <a:rPr b="1" lang="en-US" sz="2100">
                <a:solidFill>
                  <a:srgbClr val="5CC97B"/>
                </a:solidFill>
                <a:latin typeface="Alexandria Medium"/>
                <a:ea typeface="Alexandria Medium"/>
                <a:cs typeface="Alexandria Medium"/>
                <a:sym typeface="Alexandria Medium"/>
              </a:rPr>
              <a:t>Feature-Driven Optimization</a:t>
            </a:r>
            <a:endParaRPr b="1" sz="2100">
              <a:solidFill>
                <a:schemeClr val="dk1"/>
              </a:solidFill>
              <a:latin typeface="Calibri"/>
              <a:ea typeface="Calibri"/>
              <a:cs typeface="Calibri"/>
              <a:sym typeface="Calibri"/>
            </a:endParaRPr>
          </a:p>
        </p:txBody>
      </p:sp>
      <p:sp>
        <p:nvSpPr>
          <p:cNvPr id="75" name="Google Shape;75;p2"/>
          <p:cNvSpPr/>
          <p:nvPr/>
        </p:nvSpPr>
        <p:spPr>
          <a:xfrm>
            <a:off x="10862072" y="3462457"/>
            <a:ext cx="3018234" cy="17145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FFFFFF"/>
              </a:buClr>
              <a:buSzPts val="1650"/>
              <a:buFont typeface="IBM Plex Sans"/>
              <a:buNone/>
            </a:pPr>
            <a:r>
              <a:rPr lang="en-US" sz="1650">
                <a:solidFill>
                  <a:srgbClr val="FFFFFF"/>
                </a:solidFill>
                <a:latin typeface="IBM Plex Sans"/>
                <a:ea typeface="IBM Plex Sans"/>
                <a:cs typeface="IBM Plex Sans"/>
                <a:sym typeface="IBM Plex Sans"/>
              </a:rPr>
              <a:t>Develop new functionalities based on musical attributes (such as danceability, mood) to optimize music recommendation experience.</a:t>
            </a:r>
            <a:endParaRPr sz="1650">
              <a:solidFill>
                <a:schemeClr val="dk1"/>
              </a:solidFill>
              <a:latin typeface="Calibri"/>
              <a:ea typeface="Calibri"/>
              <a:cs typeface="Calibri"/>
              <a:sym typeface="Calibri"/>
            </a:endParaRPr>
          </a:p>
        </p:txBody>
      </p:sp>
      <p:sp>
        <p:nvSpPr>
          <p:cNvPr id="76" name="Google Shape;76;p2"/>
          <p:cNvSpPr/>
          <p:nvPr/>
        </p:nvSpPr>
        <p:spPr>
          <a:xfrm>
            <a:off x="6236494" y="5632371"/>
            <a:ext cx="482203" cy="482203"/>
          </a:xfrm>
          <a:prstGeom prst="roundRect">
            <a:avLst>
              <a:gd fmla="val 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6382226" y="5712738"/>
            <a:ext cx="190738" cy="32146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500"/>
              <a:buFont typeface="Alexandria Medium"/>
              <a:buNone/>
            </a:pPr>
            <a:r>
              <a:rPr lang="en-US" sz="2500">
                <a:solidFill>
                  <a:srgbClr val="000000"/>
                </a:solidFill>
                <a:latin typeface="Alexandria Medium"/>
                <a:ea typeface="Alexandria Medium"/>
                <a:cs typeface="Alexandria Medium"/>
                <a:sym typeface="Alexandria Medium"/>
              </a:rPr>
              <a:t>3</a:t>
            </a:r>
            <a:endParaRPr sz="2500">
              <a:solidFill>
                <a:schemeClr val="dk1"/>
              </a:solidFill>
              <a:latin typeface="Calibri"/>
              <a:ea typeface="Calibri"/>
              <a:cs typeface="Calibri"/>
              <a:sym typeface="Calibri"/>
            </a:endParaRPr>
          </a:p>
        </p:txBody>
      </p:sp>
      <p:sp>
        <p:nvSpPr>
          <p:cNvPr id="78" name="Google Shape;78;p2"/>
          <p:cNvSpPr/>
          <p:nvPr/>
        </p:nvSpPr>
        <p:spPr>
          <a:xfrm>
            <a:off x="6933009" y="5632371"/>
            <a:ext cx="2679025" cy="334804"/>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5CC97B"/>
              </a:buClr>
              <a:buSzPts val="2100"/>
              <a:buFont typeface="Alexandria Medium"/>
              <a:buNone/>
            </a:pPr>
            <a:r>
              <a:rPr b="1" lang="en-US" sz="2100">
                <a:solidFill>
                  <a:srgbClr val="5CC97B"/>
                </a:solidFill>
                <a:latin typeface="Alexandria Medium"/>
                <a:ea typeface="Alexandria Medium"/>
                <a:cs typeface="Alexandria Medium"/>
                <a:sym typeface="Alexandria Medium"/>
              </a:rPr>
              <a:t>Data-Driven Design</a:t>
            </a:r>
            <a:endParaRPr b="1" sz="2100">
              <a:solidFill>
                <a:schemeClr val="dk1"/>
              </a:solidFill>
              <a:latin typeface="Calibri"/>
              <a:ea typeface="Calibri"/>
              <a:cs typeface="Calibri"/>
              <a:sym typeface="Calibri"/>
            </a:endParaRPr>
          </a:p>
        </p:txBody>
      </p:sp>
      <p:sp>
        <p:nvSpPr>
          <p:cNvPr id="79" name="Google Shape;79;p2"/>
          <p:cNvSpPr/>
          <p:nvPr/>
        </p:nvSpPr>
        <p:spPr>
          <a:xfrm>
            <a:off x="6933009" y="6095762"/>
            <a:ext cx="6947297" cy="137160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FFFFFF"/>
              </a:buClr>
              <a:buSzPts val="1650"/>
              <a:buFont typeface="IBM Plex Sans"/>
              <a:buNone/>
            </a:pPr>
            <a:r>
              <a:rPr lang="en-US" sz="1650">
                <a:solidFill>
                  <a:srgbClr val="FFFFFF"/>
                </a:solidFill>
                <a:latin typeface="IBM Plex Sans"/>
                <a:ea typeface="IBM Plex Sans"/>
                <a:cs typeface="IBM Plex Sans"/>
                <a:sym typeface="IBM Plex Sans"/>
              </a:rPr>
              <a:t>Leverage the music recommendation system's ability to analyze song features and similarities to inform the design of new personalized discovery features, enhancing user engagement and creating tailored music exploration journeys.</a:t>
            </a:r>
            <a:endParaRPr sz="16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3"/>
          <p:cNvSpPr/>
          <p:nvPr/>
        </p:nvSpPr>
        <p:spPr>
          <a:xfrm>
            <a:off x="688003" y="377661"/>
            <a:ext cx="4649986" cy="326112"/>
          </a:xfrm>
          <a:prstGeom prst="rect">
            <a:avLst/>
          </a:prstGeom>
          <a:noFill/>
          <a:ln>
            <a:noFill/>
          </a:ln>
        </p:spPr>
        <p:txBody>
          <a:bodyPr anchorCtr="0" anchor="t" bIns="0" lIns="0" spcFirstLastPara="1" rIns="0" wrap="square" tIns="0">
            <a:noAutofit/>
          </a:bodyPr>
          <a:lstStyle/>
          <a:p>
            <a:pPr indent="0" lvl="0" marL="0" marR="0" rtl="0" algn="l">
              <a:lnSpc>
                <a:spcPct val="76388"/>
              </a:lnSpc>
              <a:spcBef>
                <a:spcPts val="0"/>
              </a:spcBef>
              <a:spcAft>
                <a:spcPts val="0"/>
              </a:spcAft>
              <a:buClr>
                <a:srgbClr val="5CC97B"/>
              </a:buClr>
              <a:buSzPts val="3600"/>
              <a:buFont typeface="Alexandria Medium"/>
              <a:buNone/>
            </a:pPr>
            <a:r>
              <a:rPr b="1" lang="en-US" sz="3600">
                <a:solidFill>
                  <a:srgbClr val="5CC97B"/>
                </a:solidFill>
                <a:latin typeface="Alexandria Medium"/>
                <a:ea typeface="Alexandria Medium"/>
                <a:cs typeface="Alexandria Medium"/>
                <a:sym typeface="Alexandria Medium"/>
              </a:rPr>
              <a:t>Database Summary</a:t>
            </a:r>
            <a:endParaRPr b="1" sz="3600">
              <a:solidFill>
                <a:schemeClr val="dk1"/>
              </a:solidFill>
              <a:latin typeface="Calibri"/>
              <a:ea typeface="Calibri"/>
              <a:cs typeface="Calibri"/>
              <a:sym typeface="Calibri"/>
            </a:endParaRPr>
          </a:p>
        </p:txBody>
      </p:sp>
      <p:sp>
        <p:nvSpPr>
          <p:cNvPr id="86" name="Google Shape;86;p3"/>
          <p:cNvSpPr/>
          <p:nvPr/>
        </p:nvSpPr>
        <p:spPr>
          <a:xfrm>
            <a:off x="744550" y="831300"/>
            <a:ext cx="10864500" cy="26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IBM Plex Sans"/>
              <a:buNone/>
            </a:pPr>
            <a:r>
              <a:rPr lang="en-US" sz="1400">
                <a:solidFill>
                  <a:srgbClr val="FFFFFF"/>
                </a:solidFill>
                <a:latin typeface="IBM Plex Sans"/>
                <a:ea typeface="IBM Plex Sans"/>
                <a:cs typeface="IBM Plex Sans"/>
                <a:sym typeface="IBM Plex Sans"/>
              </a:rPr>
              <a:t>Analysis of more than 28000+ tracks on Spotify till 2020, reveals insights about music preferences and listening patterns:</a:t>
            </a:r>
            <a:endParaRPr sz="1400">
              <a:solidFill>
                <a:srgbClr val="FFFFFF"/>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FFFFFF"/>
              </a:buClr>
              <a:buSzPts val="1400"/>
              <a:buFont typeface="IBM Plex Sans"/>
              <a:buNone/>
            </a:pPr>
            <a:r>
              <a:t/>
            </a:r>
            <a:endParaRPr>
              <a:solidFill>
                <a:srgbClr val="FFFFFF"/>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FFFFFF"/>
              </a:buClr>
              <a:buSzPts val="1400"/>
              <a:buFont typeface="IBM Plex Sans"/>
              <a:buNone/>
            </a:pPr>
            <a:r>
              <a:t/>
            </a:r>
            <a:endParaRPr>
              <a:solidFill>
                <a:srgbClr val="FFFFFF"/>
              </a:solidFill>
              <a:latin typeface="IBM Plex Sans"/>
              <a:ea typeface="IBM Plex Sans"/>
              <a:cs typeface="IBM Plex Sans"/>
              <a:sym typeface="IBM Plex Sans"/>
            </a:endParaRPr>
          </a:p>
        </p:txBody>
      </p:sp>
      <p:sp>
        <p:nvSpPr>
          <p:cNvPr id="87" name="Google Shape;87;p3"/>
          <p:cNvSpPr/>
          <p:nvPr/>
        </p:nvSpPr>
        <p:spPr>
          <a:xfrm>
            <a:off x="432852" y="1358146"/>
            <a:ext cx="255151" cy="255151"/>
          </a:xfrm>
          <a:prstGeom prst="roundRect">
            <a:avLst>
              <a:gd fmla="val 6667" name="adj"/>
            </a:avLst>
          </a:prstGeom>
          <a:solidFill>
            <a:srgbClr val="EE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527864" y="1400651"/>
            <a:ext cx="65008" cy="1701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lexandria Medium"/>
              <a:buNone/>
            </a:pPr>
            <a:r>
              <a:rPr lang="en-US" sz="1300">
                <a:solidFill>
                  <a:srgbClr val="000000"/>
                </a:solidFill>
                <a:latin typeface="Alexandria Medium"/>
                <a:ea typeface="Alexandria Medium"/>
                <a:cs typeface="Alexandria Medium"/>
                <a:sym typeface="Alexandria Medium"/>
              </a:rPr>
              <a:t>1</a:t>
            </a:r>
            <a:endParaRPr sz="1300">
              <a:solidFill>
                <a:schemeClr val="dk1"/>
              </a:solidFill>
              <a:latin typeface="Calibri"/>
              <a:ea typeface="Calibri"/>
              <a:cs typeface="Calibri"/>
              <a:sym typeface="Calibri"/>
            </a:endParaRPr>
          </a:p>
        </p:txBody>
      </p:sp>
      <p:sp>
        <p:nvSpPr>
          <p:cNvPr id="89" name="Google Shape;89;p3"/>
          <p:cNvSpPr/>
          <p:nvPr/>
        </p:nvSpPr>
        <p:spPr>
          <a:xfrm>
            <a:off x="809175" y="1266475"/>
            <a:ext cx="2527800" cy="177300"/>
          </a:xfrm>
          <a:prstGeom prst="rect">
            <a:avLst/>
          </a:prstGeom>
          <a:noFill/>
          <a:ln>
            <a:noFill/>
          </a:ln>
        </p:spPr>
        <p:txBody>
          <a:bodyPr anchorCtr="0" anchor="t" bIns="0" lIns="0" spcFirstLastPara="1" rIns="0" wrap="square" tIns="0">
            <a:noAutofit/>
          </a:bodyPr>
          <a:lstStyle/>
          <a:p>
            <a:pPr indent="0" lvl="0" marL="0" marR="0" rtl="0" algn="l">
              <a:lnSpc>
                <a:spcPct val="67500"/>
              </a:lnSpc>
              <a:spcBef>
                <a:spcPts val="0"/>
              </a:spcBef>
              <a:spcAft>
                <a:spcPts val="0"/>
              </a:spcAft>
              <a:buClr>
                <a:srgbClr val="5CC97B"/>
              </a:buClr>
              <a:buSzPts val="2000"/>
              <a:buFont typeface="Alexandria Medium"/>
              <a:buNone/>
            </a:pPr>
            <a:r>
              <a:rPr b="1" lang="en-US" sz="2000">
                <a:solidFill>
                  <a:srgbClr val="5CC97B"/>
                </a:solidFill>
                <a:latin typeface="Alexandria Medium"/>
                <a:ea typeface="Alexandria Medium"/>
                <a:cs typeface="Alexandria Medium"/>
                <a:sym typeface="Alexandria Medium"/>
              </a:rPr>
              <a:t>Dataset Scale</a:t>
            </a:r>
            <a:endParaRPr b="1" sz="2000">
              <a:solidFill>
                <a:schemeClr val="dk1"/>
              </a:solidFill>
              <a:latin typeface="Calibri"/>
              <a:ea typeface="Calibri"/>
              <a:cs typeface="Calibri"/>
              <a:sym typeface="Calibri"/>
            </a:endParaRPr>
          </a:p>
        </p:txBody>
      </p:sp>
      <p:sp>
        <p:nvSpPr>
          <p:cNvPr id="90" name="Google Shape;90;p3"/>
          <p:cNvSpPr/>
          <p:nvPr/>
        </p:nvSpPr>
        <p:spPr>
          <a:xfrm>
            <a:off x="819567" y="1487043"/>
            <a:ext cx="4168200" cy="544500"/>
          </a:xfrm>
          <a:prstGeom prst="rect">
            <a:avLst/>
          </a:prstGeom>
          <a:noFill/>
          <a:ln>
            <a:noFill/>
          </a:ln>
        </p:spPr>
        <p:txBody>
          <a:bodyPr anchorCtr="0" anchor="t" bIns="0" lIns="0" spcFirstLastPara="1" rIns="0" wrap="square" tIns="0">
            <a:noAutofit/>
          </a:bodyPr>
          <a:lstStyle/>
          <a:p>
            <a:pPr indent="0" lvl="0" marL="0" marR="0" rtl="0" algn="l">
              <a:lnSpc>
                <a:spcPct val="116666"/>
              </a:lnSpc>
              <a:spcBef>
                <a:spcPts val="0"/>
              </a:spcBef>
              <a:spcAft>
                <a:spcPts val="0"/>
              </a:spcAft>
              <a:buClr>
                <a:srgbClr val="FFFFFF"/>
              </a:buClr>
              <a:buSzPts val="1200"/>
              <a:buFont typeface="IBM Plex Sans"/>
              <a:buNone/>
            </a:pPr>
            <a:r>
              <a:rPr lang="en-US" sz="1200">
                <a:solidFill>
                  <a:srgbClr val="FFFFFF"/>
                </a:solidFill>
                <a:latin typeface="IBM Plex Sans"/>
                <a:ea typeface="IBM Plex Sans"/>
                <a:cs typeface="IBM Plex Sans"/>
                <a:sym typeface="IBM Plex Sans"/>
              </a:rPr>
              <a:t>28,356 tracks (rows of data) across 6 genres and 24 subgenres, and varying attributes like danceability, energy, speechines, tempo, loudness, mode, speechiness, acousticness, instrumentalness, liveness and valence</a:t>
            </a:r>
            <a:endParaRPr sz="1200">
              <a:solidFill>
                <a:schemeClr val="dk1"/>
              </a:solidFill>
              <a:latin typeface="Calibri"/>
              <a:ea typeface="Calibri"/>
              <a:cs typeface="Calibri"/>
              <a:sym typeface="Calibri"/>
            </a:endParaRPr>
          </a:p>
        </p:txBody>
      </p:sp>
      <p:sp>
        <p:nvSpPr>
          <p:cNvPr id="91" name="Google Shape;91;p3"/>
          <p:cNvSpPr/>
          <p:nvPr/>
        </p:nvSpPr>
        <p:spPr>
          <a:xfrm>
            <a:off x="5082838" y="1358146"/>
            <a:ext cx="255151" cy="255151"/>
          </a:xfrm>
          <a:prstGeom prst="roundRect">
            <a:avLst>
              <a:gd fmla="val 6667" name="adj"/>
            </a:avLst>
          </a:prstGeom>
          <a:solidFill>
            <a:srgbClr val="EE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5160229" y="1400651"/>
            <a:ext cx="100370" cy="1701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lexandria Medium"/>
              <a:buNone/>
            </a:pPr>
            <a:r>
              <a:rPr lang="en-US" sz="1300">
                <a:solidFill>
                  <a:srgbClr val="000000"/>
                </a:solidFill>
                <a:latin typeface="Alexandria Medium"/>
                <a:ea typeface="Alexandria Medium"/>
                <a:cs typeface="Alexandria Medium"/>
                <a:sym typeface="Alexandria Medium"/>
              </a:rPr>
              <a:t>2</a:t>
            </a:r>
            <a:endParaRPr sz="1300">
              <a:solidFill>
                <a:schemeClr val="dk1"/>
              </a:solidFill>
              <a:latin typeface="Calibri"/>
              <a:ea typeface="Calibri"/>
              <a:cs typeface="Calibri"/>
              <a:sym typeface="Calibri"/>
            </a:endParaRPr>
          </a:p>
        </p:txBody>
      </p:sp>
      <p:sp>
        <p:nvSpPr>
          <p:cNvPr id="93" name="Google Shape;93;p3"/>
          <p:cNvSpPr/>
          <p:nvPr/>
        </p:nvSpPr>
        <p:spPr>
          <a:xfrm>
            <a:off x="5451337" y="1302228"/>
            <a:ext cx="2647634" cy="255151"/>
          </a:xfrm>
          <a:prstGeom prst="rect">
            <a:avLst/>
          </a:prstGeom>
          <a:noFill/>
          <a:ln>
            <a:noFill/>
          </a:ln>
        </p:spPr>
        <p:txBody>
          <a:bodyPr anchorCtr="0" anchor="t" bIns="0" lIns="0" spcFirstLastPara="1" rIns="0" wrap="square" tIns="0">
            <a:noAutofit/>
          </a:bodyPr>
          <a:lstStyle/>
          <a:p>
            <a:pPr indent="0" lvl="0" marL="0" marR="0" rtl="0" algn="l">
              <a:lnSpc>
                <a:spcPct val="67500"/>
              </a:lnSpc>
              <a:spcBef>
                <a:spcPts val="0"/>
              </a:spcBef>
              <a:spcAft>
                <a:spcPts val="0"/>
              </a:spcAft>
              <a:buClr>
                <a:srgbClr val="5CC97B"/>
              </a:buClr>
              <a:buSzPts val="2000"/>
              <a:buFont typeface="Alexandria Medium"/>
              <a:buNone/>
            </a:pPr>
            <a:r>
              <a:rPr b="1" lang="en-US" sz="2000">
                <a:solidFill>
                  <a:srgbClr val="5CC97B"/>
                </a:solidFill>
                <a:latin typeface="Alexandria Medium"/>
                <a:ea typeface="Alexandria Medium"/>
                <a:cs typeface="Alexandria Medium"/>
                <a:sym typeface="Alexandria Medium"/>
              </a:rPr>
              <a:t>Genre Performance</a:t>
            </a:r>
            <a:endParaRPr b="1" sz="2000">
              <a:solidFill>
                <a:schemeClr val="dk1"/>
              </a:solidFill>
              <a:latin typeface="Calibri"/>
              <a:ea typeface="Calibri"/>
              <a:cs typeface="Calibri"/>
              <a:sym typeface="Calibri"/>
            </a:endParaRPr>
          </a:p>
        </p:txBody>
      </p:sp>
      <p:sp>
        <p:nvSpPr>
          <p:cNvPr id="94" name="Google Shape;94;p3"/>
          <p:cNvSpPr/>
          <p:nvPr/>
        </p:nvSpPr>
        <p:spPr>
          <a:xfrm>
            <a:off x="5451337" y="1502699"/>
            <a:ext cx="4168140" cy="544354"/>
          </a:xfrm>
          <a:prstGeom prst="rect">
            <a:avLst/>
          </a:prstGeom>
          <a:noFill/>
          <a:ln>
            <a:noFill/>
          </a:ln>
        </p:spPr>
        <p:txBody>
          <a:bodyPr anchorCtr="0" anchor="t" bIns="0" lIns="0" spcFirstLastPara="1" rIns="0" wrap="square" tIns="0">
            <a:noAutofit/>
          </a:bodyPr>
          <a:lstStyle/>
          <a:p>
            <a:pPr indent="0" lvl="0" marL="0" marR="0" rtl="0" algn="l">
              <a:lnSpc>
                <a:spcPct val="116666"/>
              </a:lnSpc>
              <a:spcBef>
                <a:spcPts val="0"/>
              </a:spcBef>
              <a:spcAft>
                <a:spcPts val="0"/>
              </a:spcAft>
              <a:buClr>
                <a:srgbClr val="FFFFFF"/>
              </a:buClr>
              <a:buSzPts val="1200"/>
              <a:buFont typeface="IBM Plex Sans"/>
              <a:buNone/>
            </a:pPr>
            <a:r>
              <a:rPr lang="en-US" sz="1200">
                <a:solidFill>
                  <a:srgbClr val="FFFFFF"/>
                </a:solidFill>
                <a:latin typeface="IBM Plex Sans"/>
                <a:ea typeface="IBM Plex Sans"/>
                <a:cs typeface="IBM Plex Sans"/>
                <a:sym typeface="IBM Plex Sans"/>
              </a:rPr>
              <a:t>Over 10,000 artists in genres like Pop, Rap, Rock and much more, visualised based on their average popularity. Genres are further subcaterized on the basis of Sub-Genres.</a:t>
            </a:r>
            <a:endParaRPr sz="1200">
              <a:solidFill>
                <a:schemeClr val="dk1"/>
              </a:solidFill>
              <a:latin typeface="Calibri"/>
              <a:ea typeface="Calibri"/>
              <a:cs typeface="Calibri"/>
              <a:sym typeface="Calibri"/>
            </a:endParaRPr>
          </a:p>
        </p:txBody>
      </p:sp>
      <p:sp>
        <p:nvSpPr>
          <p:cNvPr id="95" name="Google Shape;95;p3"/>
          <p:cNvSpPr/>
          <p:nvPr/>
        </p:nvSpPr>
        <p:spPr>
          <a:xfrm>
            <a:off x="9732824" y="1358146"/>
            <a:ext cx="255151" cy="255151"/>
          </a:xfrm>
          <a:prstGeom prst="roundRect">
            <a:avLst>
              <a:gd fmla="val 6667" name="adj"/>
            </a:avLst>
          </a:prstGeom>
          <a:solidFill>
            <a:srgbClr val="EE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9809977" y="1400651"/>
            <a:ext cx="100846" cy="1701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lexandria Medium"/>
              <a:buNone/>
            </a:pPr>
            <a:r>
              <a:rPr lang="en-US" sz="1300">
                <a:solidFill>
                  <a:srgbClr val="000000"/>
                </a:solidFill>
                <a:latin typeface="Alexandria Medium"/>
                <a:ea typeface="Alexandria Medium"/>
                <a:cs typeface="Alexandria Medium"/>
                <a:sym typeface="Alexandria Medium"/>
              </a:rPr>
              <a:t>3</a:t>
            </a:r>
            <a:endParaRPr sz="1300">
              <a:solidFill>
                <a:schemeClr val="dk1"/>
              </a:solidFill>
              <a:latin typeface="Calibri"/>
              <a:ea typeface="Calibri"/>
              <a:cs typeface="Calibri"/>
              <a:sym typeface="Calibri"/>
            </a:endParaRPr>
          </a:p>
        </p:txBody>
      </p:sp>
      <p:sp>
        <p:nvSpPr>
          <p:cNvPr id="97" name="Google Shape;97;p3"/>
          <p:cNvSpPr/>
          <p:nvPr/>
        </p:nvSpPr>
        <p:spPr>
          <a:xfrm>
            <a:off x="10101322" y="1302228"/>
            <a:ext cx="2225814" cy="177165"/>
          </a:xfrm>
          <a:prstGeom prst="rect">
            <a:avLst/>
          </a:prstGeom>
          <a:noFill/>
          <a:ln>
            <a:noFill/>
          </a:ln>
        </p:spPr>
        <p:txBody>
          <a:bodyPr anchorCtr="0" anchor="t" bIns="0" lIns="0" spcFirstLastPara="1" rIns="0" wrap="square" tIns="0">
            <a:noAutofit/>
          </a:bodyPr>
          <a:lstStyle/>
          <a:p>
            <a:pPr indent="0" lvl="0" marL="0" marR="0" rtl="0" algn="l">
              <a:lnSpc>
                <a:spcPct val="67500"/>
              </a:lnSpc>
              <a:spcBef>
                <a:spcPts val="0"/>
              </a:spcBef>
              <a:spcAft>
                <a:spcPts val="0"/>
              </a:spcAft>
              <a:buClr>
                <a:srgbClr val="5CC97B"/>
              </a:buClr>
              <a:buSzPts val="2000"/>
              <a:buFont typeface="Alexandria Medium"/>
              <a:buNone/>
            </a:pPr>
            <a:r>
              <a:rPr b="1" lang="en-US" sz="2000">
                <a:solidFill>
                  <a:srgbClr val="5CC97B"/>
                </a:solidFill>
                <a:latin typeface="Alexandria Medium"/>
                <a:ea typeface="Alexandria Medium"/>
                <a:cs typeface="Alexandria Medium"/>
                <a:sym typeface="Alexandria Medium"/>
              </a:rPr>
              <a:t>Top Performers</a:t>
            </a:r>
            <a:endParaRPr b="1" sz="2000">
              <a:solidFill>
                <a:schemeClr val="dk1"/>
              </a:solidFill>
              <a:latin typeface="Calibri"/>
              <a:ea typeface="Calibri"/>
              <a:cs typeface="Calibri"/>
              <a:sym typeface="Calibri"/>
            </a:endParaRPr>
          </a:p>
        </p:txBody>
      </p:sp>
      <p:sp>
        <p:nvSpPr>
          <p:cNvPr id="98" name="Google Shape;98;p3"/>
          <p:cNvSpPr/>
          <p:nvPr/>
        </p:nvSpPr>
        <p:spPr>
          <a:xfrm>
            <a:off x="10101323" y="1502699"/>
            <a:ext cx="4168140" cy="544354"/>
          </a:xfrm>
          <a:prstGeom prst="rect">
            <a:avLst/>
          </a:prstGeom>
          <a:noFill/>
          <a:ln>
            <a:noFill/>
          </a:ln>
        </p:spPr>
        <p:txBody>
          <a:bodyPr anchorCtr="0" anchor="t" bIns="0" lIns="0" spcFirstLastPara="1" rIns="0" wrap="square" tIns="0">
            <a:noAutofit/>
          </a:bodyPr>
          <a:lstStyle/>
          <a:p>
            <a:pPr indent="0" lvl="0" marL="0" marR="0" rtl="0" algn="l">
              <a:lnSpc>
                <a:spcPct val="116666"/>
              </a:lnSpc>
              <a:spcBef>
                <a:spcPts val="0"/>
              </a:spcBef>
              <a:spcAft>
                <a:spcPts val="0"/>
              </a:spcAft>
              <a:buClr>
                <a:srgbClr val="FFFFFF"/>
              </a:buClr>
              <a:buSzPts val="1200"/>
              <a:buFont typeface="IBM Plex Sans"/>
              <a:buNone/>
            </a:pPr>
            <a:r>
              <a:rPr lang="en-US" sz="1200">
                <a:solidFill>
                  <a:srgbClr val="FFFFFF"/>
                </a:solidFill>
                <a:latin typeface="IBM Plex Sans"/>
                <a:ea typeface="IBM Plex Sans"/>
                <a:cs typeface="IBM Plex Sans"/>
                <a:sym typeface="IBM Plex Sans"/>
              </a:rPr>
              <a:t>Information regarding artists like Trevor Daniel and Y2K who have achieved 90+ popularity scores, with hit tracks from KAROL G and Dua Lipa showing strong engagement.</a:t>
            </a:r>
            <a:endParaRPr sz="1200">
              <a:solidFill>
                <a:schemeClr val="dk1"/>
              </a:solidFill>
              <a:latin typeface="Calibri"/>
              <a:ea typeface="Calibri"/>
              <a:cs typeface="Calibri"/>
              <a:sym typeface="Calibri"/>
            </a:endParaRPr>
          </a:p>
        </p:txBody>
      </p:sp>
      <p:pic>
        <p:nvPicPr>
          <p:cNvPr descr="preencoded.png" id="99" name="Google Shape;99;p3"/>
          <p:cNvPicPr preferRelativeResize="0"/>
          <p:nvPr/>
        </p:nvPicPr>
        <p:blipFill rotWithShape="1">
          <a:blip r:embed="rId3">
            <a:alphaModFix/>
          </a:blip>
          <a:srcRect b="0" l="0" r="0" t="0"/>
          <a:stretch/>
        </p:blipFill>
        <p:spPr>
          <a:xfrm>
            <a:off x="2743677" y="2392800"/>
            <a:ext cx="9583460" cy="5266611"/>
          </a:xfrm>
          <a:prstGeom prst="rect">
            <a:avLst/>
          </a:prstGeom>
          <a:noFill/>
          <a:ln cap="sq" cmpd="sng" w="38100">
            <a:solidFill>
              <a:srgbClr val="00B05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100" name="Google Shape;100;p3"/>
          <p:cNvSpPr/>
          <p:nvPr/>
        </p:nvSpPr>
        <p:spPr>
          <a:xfrm>
            <a:off x="6250727" y="7800375"/>
            <a:ext cx="3930300" cy="177300"/>
          </a:xfrm>
          <a:prstGeom prst="rect">
            <a:avLst/>
          </a:prstGeom>
          <a:noFill/>
          <a:ln>
            <a:noFill/>
          </a:ln>
        </p:spPr>
        <p:txBody>
          <a:bodyPr anchorCtr="0" anchor="t" bIns="0" lIns="0" spcFirstLastPara="1" rIns="0" wrap="square" tIns="0">
            <a:noAutofit/>
          </a:bodyPr>
          <a:lstStyle/>
          <a:p>
            <a:pPr indent="0" lvl="0" marL="0" marR="0" rtl="0" algn="ctr">
              <a:lnSpc>
                <a:spcPct val="96428"/>
              </a:lnSpc>
              <a:spcBef>
                <a:spcPts val="0"/>
              </a:spcBef>
              <a:spcAft>
                <a:spcPts val="0"/>
              </a:spcAft>
              <a:buClr>
                <a:srgbClr val="FFFFFF"/>
              </a:buClr>
              <a:buSzPts val="1400"/>
              <a:buFont typeface="Alexandria Medium"/>
              <a:buNone/>
            </a:pPr>
            <a:r>
              <a:rPr b="1" lang="en-US" sz="1400">
                <a:solidFill>
                  <a:srgbClr val="FFFFFF"/>
                </a:solidFill>
                <a:latin typeface="Alexandria Medium"/>
                <a:ea typeface="Alexandria Medium"/>
                <a:cs typeface="Alexandria Medium"/>
                <a:sym typeface="Alexandria Medium"/>
              </a:rPr>
              <a:t>Tableau Dashboard Main Page</a:t>
            </a:r>
            <a:endParaRPr b="1" sz="14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descr="preencoded.png" id="106" name="Google Shape;106;p4"/>
          <p:cNvPicPr preferRelativeResize="0"/>
          <p:nvPr/>
        </p:nvPicPr>
        <p:blipFill rotWithShape="1">
          <a:blip r:embed="rId3">
            <a:alphaModFix/>
          </a:blip>
          <a:srcRect b="0" l="0" r="0" t="0"/>
          <a:stretch/>
        </p:blipFill>
        <p:spPr>
          <a:xfrm>
            <a:off x="1605104" y="261256"/>
            <a:ext cx="11420192" cy="6425325"/>
          </a:xfrm>
          <a:prstGeom prst="rect">
            <a:avLst/>
          </a:prstGeom>
          <a:noFill/>
          <a:ln>
            <a:noFill/>
          </a:ln>
        </p:spPr>
      </p:pic>
      <p:sp>
        <p:nvSpPr>
          <p:cNvPr id="107" name="Google Shape;107;p4"/>
          <p:cNvSpPr/>
          <p:nvPr/>
        </p:nvSpPr>
        <p:spPr>
          <a:xfrm>
            <a:off x="5981779" y="6822787"/>
            <a:ext cx="2345293" cy="293132"/>
          </a:xfrm>
          <a:prstGeom prst="rect">
            <a:avLst/>
          </a:prstGeom>
          <a:noFill/>
          <a:ln>
            <a:noFill/>
          </a:ln>
        </p:spPr>
        <p:txBody>
          <a:bodyPr anchorCtr="0" anchor="t" bIns="0" lIns="0" spcFirstLastPara="1" rIns="0" wrap="square" tIns="0">
            <a:noAutofit/>
          </a:bodyPr>
          <a:lstStyle/>
          <a:p>
            <a:pPr indent="0" lvl="0" marL="0" marR="0" rtl="0" algn="ctr">
              <a:lnSpc>
                <a:spcPct val="127777"/>
              </a:lnSpc>
              <a:spcBef>
                <a:spcPts val="0"/>
              </a:spcBef>
              <a:spcAft>
                <a:spcPts val="0"/>
              </a:spcAft>
              <a:buClr>
                <a:srgbClr val="FFFFFF"/>
              </a:buClr>
              <a:buSzPts val="1800"/>
              <a:buFont typeface="Alexandria Medium"/>
              <a:buNone/>
            </a:pPr>
            <a:r>
              <a:rPr b="1" lang="en-US" sz="1800">
                <a:solidFill>
                  <a:srgbClr val="FFFFFF"/>
                </a:solidFill>
                <a:latin typeface="Alexandria Medium"/>
                <a:ea typeface="Alexandria Medium"/>
                <a:cs typeface="Alexandria Medium"/>
                <a:sym typeface="Alexandria Medium"/>
              </a:rPr>
              <a:t>Song List Page</a:t>
            </a:r>
            <a:endParaRPr b="1" sz="1800">
              <a:solidFill>
                <a:schemeClr val="dk1"/>
              </a:solidFill>
              <a:latin typeface="Calibri"/>
              <a:ea typeface="Calibri"/>
              <a:cs typeface="Calibri"/>
              <a:sym typeface="Calibri"/>
            </a:endParaRPr>
          </a:p>
        </p:txBody>
      </p:sp>
      <p:sp>
        <p:nvSpPr>
          <p:cNvPr id="108" name="Google Shape;108;p4"/>
          <p:cNvSpPr txBox="1"/>
          <p:nvPr/>
        </p:nvSpPr>
        <p:spPr>
          <a:xfrm>
            <a:off x="3755576" y="6822750"/>
            <a:ext cx="8504100" cy="1431600"/>
          </a:xfrm>
          <a:prstGeom prst="rect">
            <a:avLst/>
          </a:prstGeom>
          <a:noFill/>
          <a:ln>
            <a:noFill/>
          </a:ln>
        </p:spPr>
        <p:txBody>
          <a:bodyPr anchorCtr="0" anchor="t" bIns="45700" lIns="91425" spcFirstLastPara="1" rIns="91425" wrap="square" tIns="45700">
            <a:spAutoFit/>
          </a:bodyPr>
          <a:lstStyle/>
          <a:p>
            <a:pPr indent="0" lvl="0" marL="0" marR="0" rtl="0" algn="ctr">
              <a:lnSpc>
                <a:spcPct val="127777"/>
              </a:lnSpc>
              <a:spcBef>
                <a:spcPts val="0"/>
              </a:spcBef>
              <a:spcAft>
                <a:spcPts val="0"/>
              </a:spcAft>
              <a:buClr>
                <a:schemeClr val="dk1"/>
              </a:buClr>
              <a:buSzPts val="1800"/>
              <a:buFont typeface="Calibri"/>
              <a:buNone/>
            </a:pPr>
            <a:r>
              <a:t/>
            </a:r>
            <a:endParaRPr b="1" sz="1800">
              <a:solidFill>
                <a:srgbClr val="FFFFFF"/>
              </a:solidFill>
              <a:latin typeface="Alexandria Medium"/>
              <a:ea typeface="Alexandria Medium"/>
              <a:cs typeface="Alexandria Medium"/>
              <a:sym typeface="Alexandria Medium"/>
            </a:endParaRPr>
          </a:p>
          <a:p>
            <a:pPr indent="0" lvl="0" marL="0" marR="0" rtl="0" algn="ctr">
              <a:lnSpc>
                <a:spcPct val="127777"/>
              </a:lnSpc>
              <a:spcBef>
                <a:spcPts val="0"/>
              </a:spcBef>
              <a:spcAft>
                <a:spcPts val="0"/>
              </a:spcAft>
              <a:buClr>
                <a:srgbClr val="FFFFFF"/>
              </a:buClr>
              <a:buSzPts val="1800"/>
              <a:buFont typeface="Alexandria Medium"/>
              <a:buNone/>
            </a:pPr>
            <a:r>
              <a:rPr lang="en-US" sz="1800">
                <a:solidFill>
                  <a:srgbClr val="FFFFFF"/>
                </a:solidFill>
                <a:latin typeface="Alexandria Medium"/>
                <a:ea typeface="Alexandria Medium"/>
                <a:cs typeface="Alexandria Medium"/>
                <a:sym typeface="Alexandria Medium"/>
              </a:rPr>
              <a:t>Here, the user can decide how many songs to display and can filter the displayed songs on release year, genres and sub genres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descr="preencoded.png" id="114" name="Google Shape;114;p5"/>
          <p:cNvPicPr preferRelativeResize="0"/>
          <p:nvPr/>
        </p:nvPicPr>
        <p:blipFill rotWithShape="1">
          <a:blip r:embed="rId3">
            <a:alphaModFix/>
          </a:blip>
          <a:srcRect b="0" l="0" r="0" t="0"/>
          <a:stretch/>
        </p:blipFill>
        <p:spPr>
          <a:xfrm>
            <a:off x="1450882" y="288138"/>
            <a:ext cx="11728635" cy="6514711"/>
          </a:xfrm>
          <a:prstGeom prst="rect">
            <a:avLst/>
          </a:prstGeom>
          <a:noFill/>
          <a:ln>
            <a:noFill/>
          </a:ln>
        </p:spPr>
      </p:pic>
      <p:sp>
        <p:nvSpPr>
          <p:cNvPr id="115" name="Google Shape;115;p5"/>
          <p:cNvSpPr/>
          <p:nvPr/>
        </p:nvSpPr>
        <p:spPr>
          <a:xfrm>
            <a:off x="6117294" y="6852025"/>
            <a:ext cx="3667800" cy="294000"/>
          </a:xfrm>
          <a:prstGeom prst="rect">
            <a:avLst/>
          </a:prstGeom>
          <a:noFill/>
          <a:ln>
            <a:noFill/>
          </a:ln>
        </p:spPr>
        <p:txBody>
          <a:bodyPr anchorCtr="0" anchor="t" bIns="0" lIns="0" spcFirstLastPara="1" rIns="0" wrap="square" tIns="0">
            <a:noAutofit/>
          </a:bodyPr>
          <a:lstStyle/>
          <a:p>
            <a:pPr indent="0" lvl="0" marL="0" marR="0" rtl="0" algn="ctr">
              <a:lnSpc>
                <a:spcPct val="124324"/>
              </a:lnSpc>
              <a:spcBef>
                <a:spcPts val="0"/>
              </a:spcBef>
              <a:spcAft>
                <a:spcPts val="0"/>
              </a:spcAft>
              <a:buClr>
                <a:srgbClr val="FFFFFF"/>
              </a:buClr>
              <a:buSzPts val="1850"/>
              <a:buFont typeface="Alexandria Medium"/>
              <a:buNone/>
            </a:pPr>
            <a:r>
              <a:rPr b="1" lang="en-US" sz="1850">
                <a:solidFill>
                  <a:srgbClr val="FFFFFF"/>
                </a:solidFill>
                <a:latin typeface="Alexandria Medium"/>
                <a:ea typeface="Alexandria Medium"/>
                <a:cs typeface="Alexandria Medium"/>
                <a:sym typeface="Alexandria Medium"/>
              </a:rPr>
              <a:t>Song Attribute Page</a:t>
            </a:r>
            <a:endParaRPr b="1" sz="1850">
              <a:solidFill>
                <a:schemeClr val="dk1"/>
              </a:solidFill>
              <a:latin typeface="Calibri"/>
              <a:ea typeface="Calibri"/>
              <a:cs typeface="Calibri"/>
              <a:sym typeface="Calibri"/>
            </a:endParaRPr>
          </a:p>
        </p:txBody>
      </p:sp>
      <p:sp>
        <p:nvSpPr>
          <p:cNvPr id="116" name="Google Shape;116;p5"/>
          <p:cNvSpPr txBox="1"/>
          <p:nvPr/>
        </p:nvSpPr>
        <p:spPr>
          <a:xfrm>
            <a:off x="1131225" y="7133350"/>
            <a:ext cx="12584700" cy="1000500"/>
          </a:xfrm>
          <a:prstGeom prst="rect">
            <a:avLst/>
          </a:prstGeom>
          <a:noFill/>
          <a:ln>
            <a:noFill/>
          </a:ln>
        </p:spPr>
        <p:txBody>
          <a:bodyPr anchorCtr="0" anchor="t" bIns="45700" lIns="91425" spcFirstLastPara="1" rIns="91425" wrap="square" tIns="45700">
            <a:spAutoFit/>
          </a:bodyPr>
          <a:lstStyle/>
          <a:p>
            <a:pPr indent="0" lvl="0" marL="0" marR="0" rtl="0" algn="ctr">
              <a:lnSpc>
                <a:spcPct val="176923"/>
              </a:lnSpc>
              <a:spcBef>
                <a:spcPts val="0"/>
              </a:spcBef>
              <a:spcAft>
                <a:spcPts val="0"/>
              </a:spcAft>
              <a:buClr>
                <a:srgbClr val="FFFFFF"/>
              </a:buClr>
              <a:buSzPts val="1300"/>
              <a:buFont typeface="Alexandria Medium"/>
              <a:buNone/>
            </a:pPr>
            <a:r>
              <a:rPr lang="en-US" sz="1300">
                <a:solidFill>
                  <a:srgbClr val="FFFFFF"/>
                </a:solidFill>
                <a:latin typeface="Alexandria Medium"/>
                <a:ea typeface="Alexandria Medium"/>
                <a:cs typeface="Alexandria Medium"/>
                <a:sym typeface="Alexandria Medium"/>
              </a:rPr>
              <a:t>Users can interact with the soundwave visualization by clicking anywhere on it. When a user selects a point on the soundwave, a specific song is chosen, and detailed information about that song's attributes is displayed. Additionally, the song's position is highlighted on a scatterplot, showing how its attributes compare to those of other songs in the database.</a:t>
            </a:r>
            <a:endParaRPr sz="13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descr="preencoded.png" id="122" name="Google Shape;122;p6"/>
          <p:cNvPicPr preferRelativeResize="0"/>
          <p:nvPr/>
        </p:nvPicPr>
        <p:blipFill rotWithShape="1">
          <a:blip r:embed="rId3">
            <a:alphaModFix/>
          </a:blip>
          <a:srcRect b="0" l="0" r="0" t="0"/>
          <a:stretch/>
        </p:blipFill>
        <p:spPr>
          <a:xfrm>
            <a:off x="942132" y="221064"/>
            <a:ext cx="12587368" cy="7059526"/>
          </a:xfrm>
          <a:prstGeom prst="rect">
            <a:avLst/>
          </a:prstGeom>
          <a:noFill/>
          <a:ln>
            <a:noFill/>
          </a:ln>
        </p:spPr>
      </p:pic>
      <p:sp>
        <p:nvSpPr>
          <p:cNvPr id="123" name="Google Shape;123;p6"/>
          <p:cNvSpPr/>
          <p:nvPr/>
        </p:nvSpPr>
        <p:spPr>
          <a:xfrm>
            <a:off x="5834172" y="7422200"/>
            <a:ext cx="4686300" cy="294000"/>
          </a:xfrm>
          <a:prstGeom prst="rect">
            <a:avLst/>
          </a:prstGeom>
          <a:noFill/>
          <a:ln>
            <a:noFill/>
          </a:ln>
        </p:spPr>
        <p:txBody>
          <a:bodyPr anchorCtr="0" anchor="t" bIns="0" lIns="0" spcFirstLastPara="1" rIns="0" wrap="square" tIns="0">
            <a:noAutofit/>
          </a:bodyPr>
          <a:lstStyle/>
          <a:p>
            <a:pPr indent="0" lvl="0" marL="0" marR="0" rtl="0" algn="ctr">
              <a:lnSpc>
                <a:spcPct val="124324"/>
              </a:lnSpc>
              <a:spcBef>
                <a:spcPts val="0"/>
              </a:spcBef>
              <a:spcAft>
                <a:spcPts val="0"/>
              </a:spcAft>
              <a:buClr>
                <a:srgbClr val="FFFFFF"/>
              </a:buClr>
              <a:buSzPts val="1850"/>
              <a:buFont typeface="Alexandria Medium"/>
              <a:buNone/>
            </a:pPr>
            <a:r>
              <a:rPr b="1" lang="en-US" sz="1850">
                <a:solidFill>
                  <a:srgbClr val="FFFFFF"/>
                </a:solidFill>
                <a:latin typeface="Alexandria Medium"/>
                <a:ea typeface="Alexandria Medium"/>
                <a:cs typeface="Alexandria Medium"/>
                <a:sym typeface="Alexandria Medium"/>
              </a:rPr>
              <a:t>Attribute Definition Page</a:t>
            </a:r>
            <a:endParaRPr b="1" sz="18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p:nvPr/>
        </p:nvSpPr>
        <p:spPr>
          <a:xfrm>
            <a:off x="793790" y="626269"/>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chemeClr val="dk1"/>
              </a:buClr>
              <a:buSzPts val="4450"/>
              <a:buFont typeface="Calibri"/>
              <a:buNone/>
            </a:pPr>
            <a:r>
              <a:t/>
            </a:r>
            <a:endParaRPr sz="4450">
              <a:solidFill>
                <a:schemeClr val="dk1"/>
              </a:solidFill>
              <a:latin typeface="Calibri"/>
              <a:ea typeface="Calibri"/>
              <a:cs typeface="Calibri"/>
              <a:sym typeface="Calibri"/>
            </a:endParaRPr>
          </a:p>
        </p:txBody>
      </p:sp>
      <p:pic>
        <p:nvPicPr>
          <p:cNvPr descr="preencoded.png" id="130" name="Google Shape;130;p7"/>
          <p:cNvPicPr preferRelativeResize="0"/>
          <p:nvPr/>
        </p:nvPicPr>
        <p:blipFill rotWithShape="1">
          <a:blip r:embed="rId3">
            <a:alphaModFix/>
          </a:blip>
          <a:srcRect b="0" l="0" r="0" t="0"/>
          <a:stretch/>
        </p:blipFill>
        <p:spPr>
          <a:xfrm>
            <a:off x="410976" y="471809"/>
            <a:ext cx="6841132" cy="3841194"/>
          </a:xfrm>
          <a:prstGeom prst="rect">
            <a:avLst/>
          </a:prstGeom>
          <a:noFill/>
          <a:ln>
            <a:noFill/>
          </a:ln>
        </p:spPr>
      </p:pic>
      <p:pic>
        <p:nvPicPr>
          <p:cNvPr descr="preencoded.png" id="131" name="Google Shape;131;p7"/>
          <p:cNvPicPr preferRelativeResize="0"/>
          <p:nvPr/>
        </p:nvPicPr>
        <p:blipFill rotWithShape="1">
          <a:blip r:embed="rId4">
            <a:alphaModFix/>
          </a:blip>
          <a:srcRect b="0" l="0" r="0" t="0"/>
          <a:stretch/>
        </p:blipFill>
        <p:spPr>
          <a:xfrm>
            <a:off x="7438749" y="2195333"/>
            <a:ext cx="6841132" cy="3838934"/>
          </a:xfrm>
          <a:prstGeom prst="rect">
            <a:avLst/>
          </a:prstGeom>
          <a:noFill/>
          <a:ln>
            <a:noFill/>
          </a:ln>
        </p:spPr>
      </p:pic>
      <p:sp>
        <p:nvSpPr>
          <p:cNvPr id="132" name="Google Shape;132;p7"/>
          <p:cNvSpPr/>
          <p:nvPr/>
        </p:nvSpPr>
        <p:spPr>
          <a:xfrm>
            <a:off x="7599521" y="5689759"/>
            <a:ext cx="3402330"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chemeClr val="dk1"/>
              </a:buClr>
              <a:buSzPts val="2650"/>
              <a:buFont typeface="Calibri"/>
              <a:buNone/>
            </a:pPr>
            <a:r>
              <a:t/>
            </a:r>
            <a:endParaRPr sz="2650">
              <a:solidFill>
                <a:schemeClr val="dk1"/>
              </a:solidFill>
              <a:latin typeface="Calibri"/>
              <a:ea typeface="Calibri"/>
              <a:cs typeface="Calibri"/>
              <a:sym typeface="Calibri"/>
            </a:endParaRPr>
          </a:p>
        </p:txBody>
      </p:sp>
      <p:sp>
        <p:nvSpPr>
          <p:cNvPr id="133" name="Google Shape;133;p7"/>
          <p:cNvSpPr/>
          <p:nvPr/>
        </p:nvSpPr>
        <p:spPr>
          <a:xfrm>
            <a:off x="7599521" y="6341864"/>
            <a:ext cx="6244709"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chemeClr val="dk1"/>
              </a:buClr>
              <a:buSzPts val="1750"/>
              <a:buFont typeface="Calibri"/>
              <a:buNone/>
            </a:pPr>
            <a:r>
              <a:t/>
            </a:r>
            <a:endParaRPr sz="1750">
              <a:solidFill>
                <a:schemeClr val="dk1"/>
              </a:solidFill>
              <a:latin typeface="Calibri"/>
              <a:ea typeface="Calibri"/>
              <a:cs typeface="Calibri"/>
              <a:sym typeface="Calibri"/>
            </a:endParaRPr>
          </a:p>
        </p:txBody>
      </p:sp>
      <p:sp>
        <p:nvSpPr>
          <p:cNvPr id="134" name="Google Shape;134;p7"/>
          <p:cNvSpPr/>
          <p:nvPr/>
        </p:nvSpPr>
        <p:spPr>
          <a:xfrm>
            <a:off x="5897582" y="6295366"/>
            <a:ext cx="2835235" cy="354330"/>
          </a:xfrm>
          <a:prstGeom prst="rect">
            <a:avLst/>
          </a:prstGeom>
          <a:noFill/>
          <a:ln>
            <a:noFill/>
          </a:ln>
        </p:spPr>
        <p:txBody>
          <a:bodyPr anchorCtr="0" anchor="t" bIns="0" lIns="0" spcFirstLastPara="1" rIns="0" wrap="square" tIns="0">
            <a:noAutofit/>
          </a:bodyPr>
          <a:lstStyle/>
          <a:p>
            <a:pPr indent="0" lvl="0" marL="0" marR="0" rtl="0" algn="ctr">
              <a:lnSpc>
                <a:spcPct val="137500"/>
              </a:lnSpc>
              <a:spcBef>
                <a:spcPts val="0"/>
              </a:spcBef>
              <a:spcAft>
                <a:spcPts val="0"/>
              </a:spcAft>
              <a:buClr>
                <a:srgbClr val="FFFFFF"/>
              </a:buClr>
              <a:buSzPts val="2000"/>
              <a:buFont typeface="Alexandria Medium"/>
              <a:buNone/>
            </a:pPr>
            <a:r>
              <a:rPr b="1" lang="en-US" sz="2000">
                <a:solidFill>
                  <a:srgbClr val="FFFFFF"/>
                </a:solidFill>
                <a:latin typeface="Alexandria Medium"/>
                <a:ea typeface="Alexandria Medium"/>
                <a:cs typeface="Alexandria Medium"/>
                <a:sym typeface="Alexandria Medium"/>
              </a:rPr>
              <a:t>Search Bar Page</a:t>
            </a:r>
            <a:endParaRPr b="1" sz="2000">
              <a:solidFill>
                <a:schemeClr val="dk1"/>
              </a:solidFill>
              <a:latin typeface="Calibri"/>
              <a:ea typeface="Calibri"/>
              <a:cs typeface="Calibri"/>
              <a:sym typeface="Calibri"/>
            </a:endParaRPr>
          </a:p>
        </p:txBody>
      </p:sp>
      <p:sp>
        <p:nvSpPr>
          <p:cNvPr id="135" name="Google Shape;135;p7"/>
          <p:cNvSpPr txBox="1"/>
          <p:nvPr/>
        </p:nvSpPr>
        <p:spPr>
          <a:xfrm>
            <a:off x="3755571" y="6649608"/>
            <a:ext cx="7119257" cy="668581"/>
          </a:xfrm>
          <a:prstGeom prst="rect">
            <a:avLst/>
          </a:prstGeom>
          <a:noFill/>
          <a:ln>
            <a:noFill/>
          </a:ln>
        </p:spPr>
        <p:txBody>
          <a:bodyPr anchorCtr="0" anchor="t" bIns="45700" lIns="91425" spcFirstLastPara="1" rIns="91425" wrap="square" tIns="45700">
            <a:spAutoFit/>
          </a:bodyPr>
          <a:lstStyle/>
          <a:p>
            <a:pPr indent="0" lvl="0" marL="0" marR="0" rtl="0" algn="ctr">
              <a:lnSpc>
                <a:spcPct val="127777"/>
              </a:lnSpc>
              <a:spcBef>
                <a:spcPts val="0"/>
              </a:spcBef>
              <a:spcAft>
                <a:spcPts val="0"/>
              </a:spcAft>
              <a:buClr>
                <a:srgbClr val="FFFFFF"/>
              </a:buClr>
              <a:buSzPts val="1800"/>
              <a:buFont typeface="Alexandria Medium"/>
              <a:buNone/>
            </a:pPr>
            <a:r>
              <a:rPr lang="en-US" sz="1800">
                <a:solidFill>
                  <a:srgbClr val="FFFFFF"/>
                </a:solidFill>
                <a:latin typeface="Alexandria Medium"/>
                <a:ea typeface="Alexandria Medium"/>
                <a:cs typeface="Alexandria Medium"/>
                <a:sym typeface="Alexandria Medium"/>
              </a:rPr>
              <a:t>Users can look up a specific song they desire and receive detailed information about its various attributes.</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p:nvPr/>
        </p:nvSpPr>
        <p:spPr>
          <a:xfrm>
            <a:off x="4006334" y="2861667"/>
            <a:ext cx="6617732" cy="708779"/>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5CC97B"/>
              </a:buClr>
              <a:buSzPts val="4450"/>
              <a:buFont typeface="Alexandria Medium"/>
              <a:buNone/>
            </a:pPr>
            <a:r>
              <a:rPr b="1" lang="en-US" sz="4450">
                <a:solidFill>
                  <a:srgbClr val="5CC97B"/>
                </a:solidFill>
                <a:latin typeface="Alexandria Medium"/>
                <a:ea typeface="Alexandria Medium"/>
                <a:cs typeface="Alexandria Medium"/>
                <a:sym typeface="Alexandria Medium"/>
              </a:rPr>
              <a:t>Feature Demonstration</a:t>
            </a:r>
            <a:endParaRPr b="1" sz="4450">
              <a:solidFill>
                <a:schemeClr val="dk1"/>
              </a:solidFill>
              <a:latin typeface="Calibri"/>
              <a:ea typeface="Calibri"/>
              <a:cs typeface="Calibri"/>
              <a:sym typeface="Calibri"/>
            </a:endParaRPr>
          </a:p>
        </p:txBody>
      </p:sp>
      <p:sp>
        <p:nvSpPr>
          <p:cNvPr id="142" name="Google Shape;142;p8"/>
          <p:cNvSpPr/>
          <p:nvPr/>
        </p:nvSpPr>
        <p:spPr>
          <a:xfrm>
            <a:off x="793790" y="4642124"/>
            <a:ext cx="13042800" cy="725700"/>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rgbClr val="FFFFFF"/>
              </a:buClr>
              <a:buSzPts val="1750"/>
              <a:buFont typeface="IBM Plex Sans"/>
              <a:buNone/>
            </a:pPr>
            <a:r>
              <a:rPr lang="en-US" sz="1750">
                <a:solidFill>
                  <a:srgbClr val="FFFFFF"/>
                </a:solidFill>
                <a:latin typeface="IBM Plex Sans"/>
                <a:ea typeface="IBM Plex Sans"/>
                <a:cs typeface="IBM Plex Sans"/>
                <a:sym typeface="IBM Plex Sans"/>
              </a:rPr>
              <a:t>In this section, I will demonstrate my Song Recommender feature and how it functions, showcasing how they improve the music discovery experience for users.</a:t>
            </a:r>
            <a:endParaRPr sz="1750">
              <a:solidFill>
                <a:schemeClr val="dk1"/>
              </a:solidFill>
              <a:latin typeface="Calibri"/>
              <a:ea typeface="Calibri"/>
              <a:cs typeface="Calibri"/>
              <a:sym typeface="Calibri"/>
            </a:endParaRPr>
          </a:p>
        </p:txBody>
      </p:sp>
      <p:sp>
        <p:nvSpPr>
          <p:cNvPr id="143" name="Google Shape;143;p8"/>
          <p:cNvSpPr/>
          <p:nvPr/>
        </p:nvSpPr>
        <p:spPr>
          <a:xfrm>
            <a:off x="793790" y="5005030"/>
            <a:ext cx="13042821" cy="362903"/>
          </a:xfrm>
          <a:prstGeom prst="rect">
            <a:avLst/>
          </a:prstGeom>
          <a:noFill/>
          <a:ln>
            <a:noFill/>
          </a:ln>
        </p:spPr>
        <p:txBody>
          <a:bodyPr anchorCtr="0" anchor="t" bIns="0" lIns="0" spcFirstLastPara="1" rIns="0" wrap="square" tIns="0">
            <a:noAutofit/>
          </a:bodyPr>
          <a:lstStyle/>
          <a:p>
            <a:pPr indent="0" lvl="0" marL="0" marR="0" rtl="0" algn="ctr">
              <a:lnSpc>
                <a:spcPct val="162857"/>
              </a:lnSpc>
              <a:spcBef>
                <a:spcPts val="0"/>
              </a:spcBef>
              <a:spcAft>
                <a:spcPts val="0"/>
              </a:spcAft>
              <a:buClr>
                <a:schemeClr val="dk1"/>
              </a:buClr>
              <a:buSzPts val="1750"/>
              <a:buFont typeface="Calibri"/>
              <a:buNone/>
            </a:pPr>
            <a:r>
              <a:t/>
            </a:r>
            <a:endParaRPr sz="17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preencoded.png" id="149" name="Google Shape;149;p9"/>
          <p:cNvPicPr preferRelativeResize="0"/>
          <p:nvPr/>
        </p:nvPicPr>
        <p:blipFill rotWithShape="1">
          <a:blip r:embed="rId3">
            <a:alphaModFix/>
          </a:blip>
          <a:srcRect b="0" l="0" r="0" t="0"/>
          <a:stretch/>
        </p:blipFill>
        <p:spPr>
          <a:xfrm>
            <a:off x="349214" y="1478040"/>
            <a:ext cx="9118091" cy="5012113"/>
          </a:xfrm>
          <a:prstGeom prst="rect">
            <a:avLst/>
          </a:prstGeom>
          <a:noFill/>
          <a:ln>
            <a:noFill/>
          </a:ln>
        </p:spPr>
      </p:pic>
      <p:sp>
        <p:nvSpPr>
          <p:cNvPr id="150" name="Google Shape;150;p9"/>
          <p:cNvSpPr/>
          <p:nvPr/>
        </p:nvSpPr>
        <p:spPr>
          <a:xfrm>
            <a:off x="9907786" y="515847"/>
            <a:ext cx="3657243" cy="412671"/>
          </a:xfrm>
          <a:prstGeom prst="rect">
            <a:avLst/>
          </a:prstGeom>
          <a:noFill/>
          <a:ln>
            <a:noFill/>
          </a:ln>
        </p:spPr>
        <p:txBody>
          <a:bodyPr anchorCtr="0" anchor="t" bIns="0" lIns="0" spcFirstLastPara="1" rIns="0" wrap="square" tIns="0">
            <a:noAutofit/>
          </a:bodyPr>
          <a:lstStyle/>
          <a:p>
            <a:pPr indent="0" lvl="0" marL="0" marR="0" rtl="0" algn="l">
              <a:lnSpc>
                <a:spcPct val="125490"/>
              </a:lnSpc>
              <a:spcBef>
                <a:spcPts val="0"/>
              </a:spcBef>
              <a:spcAft>
                <a:spcPts val="0"/>
              </a:spcAft>
              <a:buClr>
                <a:srgbClr val="5CC97B"/>
              </a:buClr>
              <a:buSzPts val="2550"/>
              <a:buFont typeface="Alexandria Medium"/>
              <a:buNone/>
            </a:pPr>
            <a:r>
              <a:rPr b="1" lang="en-US" sz="2550">
                <a:solidFill>
                  <a:srgbClr val="5CC97B"/>
                </a:solidFill>
                <a:latin typeface="Alexandria Medium"/>
                <a:ea typeface="Alexandria Medium"/>
                <a:cs typeface="Alexandria Medium"/>
                <a:sym typeface="Alexandria Medium"/>
              </a:rPr>
              <a:t>Code Implementation</a:t>
            </a:r>
            <a:endParaRPr b="1" sz="2550">
              <a:solidFill>
                <a:schemeClr val="dk1"/>
              </a:solidFill>
              <a:latin typeface="Calibri"/>
              <a:ea typeface="Calibri"/>
              <a:cs typeface="Calibri"/>
              <a:sym typeface="Calibri"/>
            </a:endParaRPr>
          </a:p>
        </p:txBody>
      </p:sp>
      <p:sp>
        <p:nvSpPr>
          <p:cNvPr id="151" name="Google Shape;151;p9"/>
          <p:cNvSpPr/>
          <p:nvPr/>
        </p:nvSpPr>
        <p:spPr>
          <a:xfrm>
            <a:off x="9900280" y="1103532"/>
            <a:ext cx="3959781" cy="281702"/>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FFFFFF"/>
              </a:buClr>
              <a:buSzPts val="1350"/>
              <a:buFont typeface="IBM Plex Sans"/>
              <a:buNone/>
            </a:pPr>
            <a:r>
              <a:rPr b="1" lang="en-US" sz="1350">
                <a:solidFill>
                  <a:srgbClr val="FFFFFF"/>
                </a:solidFill>
                <a:latin typeface="IBM Plex Sans"/>
                <a:ea typeface="IBM Plex Sans"/>
                <a:cs typeface="IBM Plex Sans"/>
                <a:sym typeface="IBM Plex Sans"/>
              </a:rPr>
              <a:t>Graphical User Interface (GUI):</a:t>
            </a:r>
            <a:endParaRPr sz="1350">
              <a:solidFill>
                <a:schemeClr val="dk1"/>
              </a:solidFill>
              <a:latin typeface="Calibri"/>
              <a:ea typeface="Calibri"/>
              <a:cs typeface="Calibri"/>
              <a:sym typeface="Calibri"/>
            </a:endParaRPr>
          </a:p>
        </p:txBody>
      </p:sp>
      <p:sp>
        <p:nvSpPr>
          <p:cNvPr id="152" name="Google Shape;152;p9"/>
          <p:cNvSpPr/>
          <p:nvPr/>
        </p:nvSpPr>
        <p:spPr>
          <a:xfrm>
            <a:off x="9900279" y="1482660"/>
            <a:ext cx="3959781" cy="281702"/>
          </a:xfrm>
          <a:prstGeom prst="rect">
            <a:avLst/>
          </a:prstGeom>
          <a:noFill/>
          <a:ln>
            <a:noFill/>
          </a:ln>
        </p:spPr>
        <p:txBody>
          <a:bodyPr anchorCtr="0" anchor="t" bIns="0" lIns="0" spcFirstLastPara="1" rIns="0" wrap="square" tIns="0">
            <a:noAutofit/>
          </a:bodyPr>
          <a:lstStyle/>
          <a:p>
            <a:pPr indent="-342900" lvl="0" marL="342900" marR="0" rtl="0" algn="l">
              <a:lnSpc>
                <a:spcPct val="161764"/>
              </a:lnSpc>
              <a:spcBef>
                <a:spcPts val="0"/>
              </a:spcBef>
              <a:spcAft>
                <a:spcPts val="0"/>
              </a:spcAft>
              <a:buClr>
                <a:schemeClr val="lt1"/>
              </a:buClr>
              <a:buSzPts val="1700"/>
              <a:buFont typeface="IBM Plex Sans"/>
              <a:buChar char="•"/>
            </a:pPr>
            <a:r>
              <a:rPr lang="en-US" sz="1700">
                <a:solidFill>
                  <a:schemeClr val="lt1"/>
                </a:solidFill>
                <a:latin typeface="IBM Plex Sans"/>
                <a:ea typeface="IBM Plex Sans"/>
                <a:cs typeface="IBM Plex Sans"/>
                <a:sym typeface="IBM Plex Sans"/>
              </a:rPr>
              <a:t>Built with </a:t>
            </a:r>
            <a:r>
              <a:rPr b="1" lang="en-US" sz="1700">
                <a:solidFill>
                  <a:schemeClr val="lt1"/>
                </a:solidFill>
                <a:latin typeface="IBM Plex Sans"/>
                <a:ea typeface="IBM Plex Sans"/>
                <a:cs typeface="IBM Plex Sans"/>
                <a:sym typeface="IBM Plex Sans"/>
              </a:rPr>
              <a:t>tkinter</a:t>
            </a:r>
            <a:endParaRPr b="1" sz="1700">
              <a:solidFill>
                <a:schemeClr val="lt1"/>
              </a:solidFill>
              <a:latin typeface="IBM Plex Sans"/>
              <a:ea typeface="IBM Plex Sans"/>
              <a:cs typeface="IBM Plex Sans"/>
              <a:sym typeface="IBM Plex Sans"/>
            </a:endParaRPr>
          </a:p>
          <a:p>
            <a:pPr indent="-342900" lvl="0" marL="342900" marR="0" rtl="0" algn="l">
              <a:lnSpc>
                <a:spcPct val="161764"/>
              </a:lnSpc>
              <a:spcBef>
                <a:spcPts val="0"/>
              </a:spcBef>
              <a:spcAft>
                <a:spcPts val="0"/>
              </a:spcAft>
              <a:buClr>
                <a:srgbClr val="FFFFFF"/>
              </a:buClr>
              <a:buSzPts val="1700"/>
              <a:buFont typeface="IBM Plex Sans"/>
              <a:buChar char="•"/>
            </a:pPr>
            <a:r>
              <a:rPr lang="en-US" sz="1700">
                <a:solidFill>
                  <a:srgbClr val="FFFFFF"/>
                </a:solidFill>
                <a:latin typeface="IBM Plex Sans"/>
                <a:ea typeface="IBM Plex Sans"/>
                <a:cs typeface="IBM Plex Sans"/>
                <a:sym typeface="IBM Plex Sans"/>
              </a:rPr>
              <a:t>Allows users to input a song name.</a:t>
            </a:r>
            <a:endParaRPr sz="1700">
              <a:solidFill>
                <a:schemeClr val="dk1"/>
              </a:solidFill>
              <a:latin typeface="Calibri"/>
              <a:ea typeface="Calibri"/>
              <a:cs typeface="Calibri"/>
              <a:sym typeface="Calibri"/>
            </a:endParaRPr>
          </a:p>
          <a:p>
            <a:pPr indent="-234950" lvl="0" marL="342900" marR="0" rtl="0" algn="l">
              <a:lnSpc>
                <a:spcPct val="161764"/>
              </a:lnSpc>
              <a:spcBef>
                <a:spcPts val="0"/>
              </a:spcBef>
              <a:spcAft>
                <a:spcPts val="0"/>
              </a:spcAft>
              <a:buClr>
                <a:schemeClr val="dk1"/>
              </a:buClr>
              <a:buSzPts val="1700"/>
              <a:buFont typeface="Calibri"/>
              <a:buNone/>
            </a:pPr>
            <a:r>
              <a:t/>
            </a:r>
            <a:endParaRPr sz="1700">
              <a:solidFill>
                <a:schemeClr val="lt1"/>
              </a:solidFill>
              <a:latin typeface="Calibri"/>
              <a:ea typeface="Calibri"/>
              <a:cs typeface="Calibri"/>
              <a:sym typeface="Calibri"/>
            </a:endParaRPr>
          </a:p>
        </p:txBody>
      </p:sp>
      <p:sp>
        <p:nvSpPr>
          <p:cNvPr id="153" name="Google Shape;153;p9"/>
          <p:cNvSpPr/>
          <p:nvPr/>
        </p:nvSpPr>
        <p:spPr>
          <a:xfrm>
            <a:off x="9907786" y="2255911"/>
            <a:ext cx="3959781" cy="281702"/>
          </a:xfrm>
          <a:prstGeom prst="rect">
            <a:avLst/>
          </a:prstGeom>
          <a:noFill/>
          <a:ln>
            <a:noFill/>
          </a:ln>
        </p:spPr>
        <p:txBody>
          <a:bodyPr anchorCtr="0" anchor="t" bIns="0" lIns="0" spcFirstLastPara="1" rIns="0" wrap="square" tIns="0">
            <a:noAutofit/>
          </a:bodyPr>
          <a:lstStyle/>
          <a:p>
            <a:pPr indent="-234950" lvl="0" marL="342900" marR="0" rtl="0" algn="l">
              <a:lnSpc>
                <a:spcPct val="161764"/>
              </a:lnSpc>
              <a:spcBef>
                <a:spcPts val="0"/>
              </a:spcBef>
              <a:spcAft>
                <a:spcPts val="0"/>
              </a:spcAft>
              <a:buClr>
                <a:schemeClr val="dk1"/>
              </a:buClr>
              <a:buSzPts val="1700"/>
              <a:buFont typeface="Calibri"/>
              <a:buNone/>
            </a:pPr>
            <a:r>
              <a:t/>
            </a:r>
            <a:endParaRPr sz="1700">
              <a:solidFill>
                <a:schemeClr val="dk1"/>
              </a:solidFill>
              <a:latin typeface="Calibri"/>
              <a:ea typeface="Calibri"/>
              <a:cs typeface="Calibri"/>
              <a:sym typeface="Calibri"/>
            </a:endParaRPr>
          </a:p>
        </p:txBody>
      </p:sp>
      <p:sp>
        <p:nvSpPr>
          <p:cNvPr id="154" name="Google Shape;154;p9"/>
          <p:cNvSpPr/>
          <p:nvPr/>
        </p:nvSpPr>
        <p:spPr>
          <a:xfrm>
            <a:off x="9900275" y="2210575"/>
            <a:ext cx="4381200" cy="563400"/>
          </a:xfrm>
          <a:prstGeom prst="rect">
            <a:avLst/>
          </a:prstGeom>
          <a:noFill/>
          <a:ln>
            <a:noFill/>
          </a:ln>
        </p:spPr>
        <p:txBody>
          <a:bodyPr anchorCtr="0" anchor="t" bIns="0" lIns="0" spcFirstLastPara="1" rIns="0" wrap="square" tIns="0">
            <a:noAutofit/>
          </a:bodyPr>
          <a:lstStyle/>
          <a:p>
            <a:pPr indent="-342900" lvl="0" marL="342900" marR="0" rtl="0" algn="l">
              <a:lnSpc>
                <a:spcPct val="161764"/>
              </a:lnSpc>
              <a:spcBef>
                <a:spcPts val="0"/>
              </a:spcBef>
              <a:spcAft>
                <a:spcPts val="0"/>
              </a:spcAft>
              <a:buClr>
                <a:srgbClr val="FFFFFF"/>
              </a:buClr>
              <a:buSzPts val="1700"/>
              <a:buFont typeface="IBM Plex Sans"/>
              <a:buChar char="•"/>
            </a:pPr>
            <a:r>
              <a:rPr lang="en-US" sz="1700">
                <a:solidFill>
                  <a:srgbClr val="FFFFFF"/>
                </a:solidFill>
                <a:latin typeface="IBM Plex Sans"/>
                <a:ea typeface="IBM Plex Sans"/>
                <a:cs typeface="IBM Plex Sans"/>
                <a:sym typeface="IBM Plex Sans"/>
              </a:rPr>
              <a:t>Includes sliders for adjusting various feature weights (e.g., tempo, loudness).</a:t>
            </a:r>
            <a:endParaRPr sz="1700">
              <a:solidFill>
                <a:schemeClr val="dk1"/>
              </a:solidFill>
              <a:latin typeface="Calibri"/>
              <a:ea typeface="Calibri"/>
              <a:cs typeface="Calibri"/>
              <a:sym typeface="Calibri"/>
            </a:endParaRPr>
          </a:p>
        </p:txBody>
      </p:sp>
      <p:sp>
        <p:nvSpPr>
          <p:cNvPr id="155" name="Google Shape;155;p9"/>
          <p:cNvSpPr/>
          <p:nvPr/>
        </p:nvSpPr>
        <p:spPr>
          <a:xfrm>
            <a:off x="9907775" y="3139150"/>
            <a:ext cx="3959700" cy="412800"/>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FFFFFF"/>
              </a:buClr>
              <a:buSzPts val="1350"/>
              <a:buFont typeface="IBM Plex Sans"/>
              <a:buNone/>
            </a:pPr>
            <a:r>
              <a:rPr b="1" lang="en-US" sz="1350">
                <a:solidFill>
                  <a:srgbClr val="FFFFFF"/>
                </a:solidFill>
                <a:latin typeface="IBM Plex Sans"/>
                <a:ea typeface="IBM Plex Sans"/>
                <a:cs typeface="IBM Plex Sans"/>
                <a:sym typeface="IBM Plex Sans"/>
              </a:rPr>
              <a:t>Recommendation Algorithm:</a:t>
            </a:r>
            <a:endParaRPr sz="1350">
              <a:solidFill>
                <a:schemeClr val="dk1"/>
              </a:solidFill>
              <a:latin typeface="Calibri"/>
              <a:ea typeface="Calibri"/>
              <a:cs typeface="Calibri"/>
              <a:sym typeface="Calibri"/>
            </a:endParaRPr>
          </a:p>
        </p:txBody>
      </p:sp>
      <p:sp>
        <p:nvSpPr>
          <p:cNvPr id="156" name="Google Shape;156;p9"/>
          <p:cNvSpPr/>
          <p:nvPr/>
        </p:nvSpPr>
        <p:spPr>
          <a:xfrm>
            <a:off x="9907775" y="3551950"/>
            <a:ext cx="3959700" cy="985500"/>
          </a:xfrm>
          <a:prstGeom prst="rect">
            <a:avLst/>
          </a:prstGeom>
          <a:noFill/>
          <a:ln>
            <a:noFill/>
          </a:ln>
        </p:spPr>
        <p:txBody>
          <a:bodyPr anchorCtr="0" anchor="t" bIns="0" lIns="0" spcFirstLastPara="1" rIns="0" wrap="square" tIns="0">
            <a:noAutofit/>
          </a:bodyPr>
          <a:lstStyle/>
          <a:p>
            <a:pPr indent="-342900" lvl="0" marL="342900" marR="0" rtl="0" algn="l">
              <a:lnSpc>
                <a:spcPct val="161764"/>
              </a:lnSpc>
              <a:spcBef>
                <a:spcPts val="0"/>
              </a:spcBef>
              <a:spcAft>
                <a:spcPts val="0"/>
              </a:spcAft>
              <a:buClr>
                <a:schemeClr val="lt1"/>
              </a:buClr>
              <a:buSzPts val="1700"/>
              <a:buFont typeface="IBM Plex Sans"/>
              <a:buChar char="•"/>
            </a:pPr>
            <a:r>
              <a:rPr lang="en-US" sz="1700">
                <a:solidFill>
                  <a:schemeClr val="lt1"/>
                </a:solidFill>
                <a:latin typeface="IBM Plex Sans"/>
                <a:ea typeface="IBM Plex Sans"/>
                <a:cs typeface="IBM Plex Sans"/>
                <a:sym typeface="IBM Plex Sans"/>
              </a:rPr>
              <a:t>Uses </a:t>
            </a:r>
            <a:r>
              <a:rPr b="1" lang="en-US" sz="1700">
                <a:solidFill>
                  <a:schemeClr val="lt1"/>
                </a:solidFill>
                <a:latin typeface="IBM Plex Sans"/>
                <a:ea typeface="IBM Plex Sans"/>
                <a:cs typeface="IBM Plex Sans"/>
                <a:sym typeface="IBM Plex Sans"/>
              </a:rPr>
              <a:t>cosine similarity</a:t>
            </a:r>
            <a:r>
              <a:rPr lang="en-US" sz="1700">
                <a:solidFill>
                  <a:schemeClr val="lt1"/>
                </a:solidFill>
                <a:latin typeface="IBM Plex Sans"/>
                <a:ea typeface="IBM Plex Sans"/>
                <a:cs typeface="IBM Plex Sans"/>
                <a:sym typeface="IBM Plex Sans"/>
              </a:rPr>
              <a:t> to calculate the closest matches based on user input and selected weights.</a:t>
            </a:r>
            <a:endParaRPr/>
          </a:p>
          <a:p>
            <a:pPr indent="-342900" lvl="0" marL="342900" marR="0" rtl="0" algn="l">
              <a:lnSpc>
                <a:spcPct val="161764"/>
              </a:lnSpc>
              <a:spcBef>
                <a:spcPts val="0"/>
              </a:spcBef>
              <a:spcAft>
                <a:spcPts val="0"/>
              </a:spcAft>
              <a:buClr>
                <a:schemeClr val="lt1"/>
              </a:buClr>
              <a:buSzPts val="1700"/>
              <a:buFont typeface="IBM Plex Sans"/>
              <a:buChar char="•"/>
            </a:pPr>
            <a:r>
              <a:rPr lang="en-US" sz="1700">
                <a:solidFill>
                  <a:schemeClr val="lt1"/>
                </a:solidFill>
                <a:latin typeface="IBM Plex Sans"/>
                <a:ea typeface="IBM Plex Sans"/>
                <a:cs typeface="IBM Plex Sans"/>
                <a:sym typeface="IBM Plex Sans"/>
              </a:rPr>
              <a:t>Presents a list of recommended songs to the user.</a:t>
            </a:r>
            <a:endParaRPr sz="1700">
              <a:solidFill>
                <a:schemeClr val="lt1"/>
              </a:solidFill>
              <a:latin typeface="Calibri"/>
              <a:ea typeface="Calibri"/>
              <a:cs typeface="Calibri"/>
              <a:sym typeface="Calibri"/>
            </a:endParaRPr>
          </a:p>
          <a:p>
            <a:pPr indent="-234950" lvl="0" marL="342900" marR="0" rtl="0" algn="l">
              <a:lnSpc>
                <a:spcPct val="161764"/>
              </a:lnSpc>
              <a:spcBef>
                <a:spcPts val="0"/>
              </a:spcBef>
              <a:spcAft>
                <a:spcPts val="0"/>
              </a:spcAft>
              <a:buClr>
                <a:schemeClr val="dk1"/>
              </a:buClr>
              <a:buSzPts val="1700"/>
              <a:buFont typeface="Calibri"/>
              <a:buNone/>
            </a:pPr>
            <a:r>
              <a:t/>
            </a:r>
            <a:endParaRPr sz="1700">
              <a:solidFill>
                <a:schemeClr val="lt1"/>
              </a:solidFill>
              <a:latin typeface="Calibri"/>
              <a:ea typeface="Calibri"/>
              <a:cs typeface="Calibri"/>
              <a:sym typeface="Calibri"/>
            </a:endParaRPr>
          </a:p>
        </p:txBody>
      </p:sp>
      <p:sp>
        <p:nvSpPr>
          <p:cNvPr id="157" name="Google Shape;157;p9"/>
          <p:cNvSpPr/>
          <p:nvPr/>
        </p:nvSpPr>
        <p:spPr>
          <a:xfrm>
            <a:off x="9907774" y="4819525"/>
            <a:ext cx="4289100" cy="563400"/>
          </a:xfrm>
          <a:prstGeom prst="rect">
            <a:avLst/>
          </a:prstGeom>
          <a:noFill/>
          <a:ln>
            <a:noFill/>
          </a:ln>
        </p:spPr>
        <p:txBody>
          <a:bodyPr anchorCtr="0" anchor="t" bIns="0" lIns="0" spcFirstLastPara="1" rIns="0" wrap="square" tIns="0">
            <a:noAutofit/>
          </a:bodyPr>
          <a:lstStyle/>
          <a:p>
            <a:pPr indent="-234950" lvl="0" marL="342900" marR="0" rtl="0" algn="l">
              <a:lnSpc>
                <a:spcPct val="161764"/>
              </a:lnSpc>
              <a:spcBef>
                <a:spcPts val="0"/>
              </a:spcBef>
              <a:spcAft>
                <a:spcPts val="0"/>
              </a:spcAft>
              <a:buClr>
                <a:schemeClr val="dk1"/>
              </a:buClr>
              <a:buSzPts val="1700"/>
              <a:buFont typeface="Calibri"/>
              <a:buNone/>
            </a:pPr>
            <a:r>
              <a:t/>
            </a:r>
            <a:endParaRPr sz="1700">
              <a:solidFill>
                <a:schemeClr val="dk1"/>
              </a:solidFill>
              <a:latin typeface="Calibri"/>
              <a:ea typeface="Calibri"/>
              <a:cs typeface="Calibri"/>
              <a:sym typeface="Calibri"/>
            </a:endParaRPr>
          </a:p>
        </p:txBody>
      </p:sp>
      <p:sp>
        <p:nvSpPr>
          <p:cNvPr id="158" name="Google Shape;158;p9"/>
          <p:cNvSpPr/>
          <p:nvPr/>
        </p:nvSpPr>
        <p:spPr>
          <a:xfrm>
            <a:off x="9900275" y="5824125"/>
            <a:ext cx="3959700" cy="106200"/>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FFFFFF"/>
              </a:buClr>
              <a:buSzPts val="1350"/>
              <a:buFont typeface="IBM Plex Sans"/>
              <a:buNone/>
            </a:pPr>
            <a:r>
              <a:rPr b="1" lang="en-US" sz="1350">
                <a:solidFill>
                  <a:srgbClr val="FFFFFF"/>
                </a:solidFill>
                <a:latin typeface="IBM Plex Sans"/>
                <a:ea typeface="IBM Plex Sans"/>
                <a:cs typeface="IBM Plex Sans"/>
                <a:sym typeface="IBM Plex Sans"/>
              </a:rPr>
              <a:t>Usability Enhancements:</a:t>
            </a:r>
            <a:endParaRPr sz="1350">
              <a:solidFill>
                <a:schemeClr val="dk1"/>
              </a:solidFill>
              <a:latin typeface="Calibri"/>
              <a:ea typeface="Calibri"/>
              <a:cs typeface="Calibri"/>
              <a:sym typeface="Calibri"/>
            </a:endParaRPr>
          </a:p>
        </p:txBody>
      </p:sp>
      <p:sp>
        <p:nvSpPr>
          <p:cNvPr id="159" name="Google Shape;159;p9"/>
          <p:cNvSpPr/>
          <p:nvPr/>
        </p:nvSpPr>
        <p:spPr>
          <a:xfrm>
            <a:off x="9900275" y="5725763"/>
            <a:ext cx="3959700" cy="943500"/>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None/>
            </a:pPr>
            <a:r>
              <a:t/>
            </a:r>
            <a:endParaRPr sz="1700">
              <a:solidFill>
                <a:srgbClr val="FFFFFF"/>
              </a:solidFill>
              <a:latin typeface="IBM Plex Sans"/>
              <a:ea typeface="IBM Plex Sans"/>
              <a:cs typeface="IBM Plex Sans"/>
              <a:sym typeface="IBM Plex Sans"/>
            </a:endParaRPr>
          </a:p>
          <a:p>
            <a:pPr indent="-342900" lvl="0" marL="342900" marR="0" rtl="0" algn="l">
              <a:lnSpc>
                <a:spcPct val="161764"/>
              </a:lnSpc>
              <a:spcBef>
                <a:spcPts val="0"/>
              </a:spcBef>
              <a:spcAft>
                <a:spcPts val="0"/>
              </a:spcAft>
              <a:buClr>
                <a:srgbClr val="FFFFFF"/>
              </a:buClr>
              <a:buSzPts val="1700"/>
              <a:buFont typeface="IBM Plex Sans"/>
              <a:buChar char="•"/>
            </a:pPr>
            <a:r>
              <a:rPr lang="en-US" sz="1700">
                <a:solidFill>
                  <a:srgbClr val="FFFFFF"/>
                </a:solidFill>
                <a:latin typeface="IBM Plex Sans"/>
                <a:ea typeface="IBM Plex Sans"/>
                <a:cs typeface="IBM Plex Sans"/>
                <a:sym typeface="IBM Plex Sans"/>
              </a:rPr>
              <a:t>If the entered song name doesn't exactly match any in the dataset, the program suggests the closest match.</a:t>
            </a:r>
            <a:endParaRPr/>
          </a:p>
          <a:p>
            <a:pPr indent="-285750" lvl="0" marL="285750" marR="0" rtl="0" algn="l">
              <a:lnSpc>
                <a:spcPct val="161764"/>
              </a:lnSpc>
              <a:spcBef>
                <a:spcPts val="0"/>
              </a:spcBef>
              <a:spcAft>
                <a:spcPts val="0"/>
              </a:spcAft>
              <a:buClr>
                <a:srgbClr val="FFFFFF"/>
              </a:buClr>
              <a:buSzPts val="1700"/>
              <a:buFont typeface="Arial"/>
              <a:buChar char="•"/>
            </a:pPr>
            <a:r>
              <a:rPr lang="en-US" sz="1700">
                <a:solidFill>
                  <a:srgbClr val="FFFFFF"/>
                </a:solidFill>
                <a:latin typeface="IBM Plex Sans"/>
                <a:ea typeface="IBM Plex Sans"/>
                <a:cs typeface="IBM Plex Sans"/>
                <a:sym typeface="IBM Plex Sans"/>
              </a:rPr>
              <a:t>Ensures a user-friendly experience by handling input discrepancies effectively.</a:t>
            </a:r>
            <a:endParaRPr sz="1700">
              <a:solidFill>
                <a:schemeClr val="dk1"/>
              </a:solidFill>
              <a:latin typeface="Calibri"/>
              <a:ea typeface="Calibri"/>
              <a:cs typeface="Calibri"/>
              <a:sym typeface="Calibri"/>
            </a:endParaRPr>
          </a:p>
          <a:p>
            <a:pPr indent="0" lvl="0" marL="0" marR="0" rtl="0" algn="l">
              <a:lnSpc>
                <a:spcPct val="161764"/>
              </a:lnSpc>
              <a:spcBef>
                <a:spcPts val="0"/>
              </a:spcBef>
              <a:spcAft>
                <a:spcPts val="0"/>
              </a:spcAft>
              <a:buNone/>
            </a:pPr>
            <a:r>
              <a:t/>
            </a:r>
            <a:endParaRPr sz="1700">
              <a:solidFill>
                <a:schemeClr val="dk1"/>
              </a:solidFill>
              <a:latin typeface="Calibri"/>
              <a:ea typeface="Calibri"/>
              <a:cs typeface="Calibri"/>
              <a:sym typeface="Calibri"/>
            </a:endParaRPr>
          </a:p>
        </p:txBody>
      </p:sp>
      <p:sp>
        <p:nvSpPr>
          <p:cNvPr id="160" name="Google Shape;160;p9"/>
          <p:cNvSpPr/>
          <p:nvPr/>
        </p:nvSpPr>
        <p:spPr>
          <a:xfrm>
            <a:off x="9907786" y="6982778"/>
            <a:ext cx="3959781" cy="563404"/>
          </a:xfrm>
          <a:prstGeom prst="rect">
            <a:avLst/>
          </a:prstGeom>
          <a:noFill/>
          <a:ln>
            <a:noFill/>
          </a:ln>
        </p:spPr>
        <p:txBody>
          <a:bodyPr anchorCtr="0" anchor="t" bIns="0" lIns="0" spcFirstLastPara="1" rIns="0" wrap="square" tIns="0">
            <a:noAutofit/>
          </a:bodyPr>
          <a:lstStyle/>
          <a:p>
            <a:pPr indent="-234950" lvl="0" marL="342900" marR="0" rtl="0" algn="l">
              <a:lnSpc>
                <a:spcPct val="161764"/>
              </a:lnSpc>
              <a:spcBef>
                <a:spcPts val="0"/>
              </a:spcBef>
              <a:spcAft>
                <a:spcPts val="0"/>
              </a:spcAft>
              <a:buClr>
                <a:schemeClr val="dk1"/>
              </a:buClr>
              <a:buSzPts val="1700"/>
              <a:buFont typeface="Calibri"/>
              <a:buNone/>
            </a:pPr>
            <a:r>
              <a:t/>
            </a:r>
            <a:endParaRPr sz="17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0"/>
          <p:cNvSpPr/>
          <p:nvPr/>
        </p:nvSpPr>
        <p:spPr>
          <a:xfrm>
            <a:off x="889225" y="567025"/>
            <a:ext cx="5657700" cy="533700"/>
          </a:xfrm>
          <a:prstGeom prst="rect">
            <a:avLst/>
          </a:prstGeom>
          <a:noFill/>
          <a:ln>
            <a:noFill/>
          </a:ln>
        </p:spPr>
        <p:txBody>
          <a:bodyPr anchorCtr="0" anchor="t" bIns="0" lIns="0" spcFirstLastPara="1" rIns="0" wrap="square" tIns="0">
            <a:noAutofit/>
          </a:bodyPr>
          <a:lstStyle/>
          <a:p>
            <a:pPr indent="0" lvl="0" marL="0" marR="0" rtl="0" algn="l">
              <a:lnSpc>
                <a:spcPct val="87500"/>
              </a:lnSpc>
              <a:spcBef>
                <a:spcPts val="0"/>
              </a:spcBef>
              <a:spcAft>
                <a:spcPts val="0"/>
              </a:spcAft>
              <a:buClr>
                <a:srgbClr val="5CC97B"/>
              </a:buClr>
              <a:buSzPts val="4800"/>
              <a:buFont typeface="Alexandria Medium"/>
              <a:buNone/>
            </a:pPr>
            <a:r>
              <a:rPr b="1" lang="en-US" sz="4800">
                <a:solidFill>
                  <a:srgbClr val="5CC97B"/>
                </a:solidFill>
                <a:latin typeface="Alexandria Medium"/>
                <a:ea typeface="Alexandria Medium"/>
                <a:cs typeface="Alexandria Medium"/>
                <a:sym typeface="Alexandria Medium"/>
              </a:rPr>
              <a:t>GUI Presentation</a:t>
            </a:r>
            <a:endParaRPr b="1" sz="4800">
              <a:solidFill>
                <a:schemeClr val="dk1"/>
              </a:solidFill>
              <a:latin typeface="Calibri"/>
              <a:ea typeface="Calibri"/>
              <a:cs typeface="Calibri"/>
              <a:sym typeface="Calibri"/>
            </a:endParaRPr>
          </a:p>
        </p:txBody>
      </p:sp>
      <p:pic>
        <p:nvPicPr>
          <p:cNvPr descr="preencoded.png" id="167" name="Google Shape;167;p10"/>
          <p:cNvPicPr preferRelativeResize="0"/>
          <p:nvPr/>
        </p:nvPicPr>
        <p:blipFill rotWithShape="1">
          <a:blip r:embed="rId3">
            <a:alphaModFix/>
          </a:blip>
          <a:srcRect b="0" l="0" r="0" t="0"/>
          <a:stretch/>
        </p:blipFill>
        <p:spPr>
          <a:xfrm>
            <a:off x="8346844" y="1315353"/>
            <a:ext cx="4104815" cy="5598876"/>
          </a:xfrm>
          <a:prstGeom prst="rect">
            <a:avLst/>
          </a:prstGeom>
          <a:noFill/>
          <a:ln cap="sq" cmpd="sng" w="38100">
            <a:solidFill>
              <a:srgbClr val="00B05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168" name="Google Shape;168;p10"/>
          <p:cNvSpPr/>
          <p:nvPr/>
        </p:nvSpPr>
        <p:spPr>
          <a:xfrm>
            <a:off x="1828199" y="7171504"/>
            <a:ext cx="1964400" cy="32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000"/>
              <a:buFont typeface="Alexandria Medium"/>
              <a:buNone/>
            </a:pPr>
            <a:r>
              <a:rPr b="1" lang="en-US" sz="2000">
                <a:solidFill>
                  <a:srgbClr val="FFFFFF"/>
                </a:solidFill>
                <a:latin typeface="Alexandria Medium"/>
                <a:ea typeface="Alexandria Medium"/>
                <a:cs typeface="Alexandria Medium"/>
                <a:sym typeface="Alexandria Medium"/>
              </a:rPr>
              <a:t>Same Weights</a:t>
            </a:r>
            <a:endParaRPr b="1" sz="2000">
              <a:solidFill>
                <a:schemeClr val="dk1"/>
              </a:solidFill>
              <a:latin typeface="Calibri"/>
              <a:ea typeface="Calibri"/>
              <a:cs typeface="Calibri"/>
              <a:sym typeface="Calibri"/>
            </a:endParaRPr>
          </a:p>
        </p:txBody>
      </p:sp>
      <p:sp>
        <p:nvSpPr>
          <p:cNvPr id="169" name="Google Shape;169;p10"/>
          <p:cNvSpPr/>
          <p:nvPr/>
        </p:nvSpPr>
        <p:spPr>
          <a:xfrm>
            <a:off x="1403926" y="7067399"/>
            <a:ext cx="6509100" cy="27330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p:txBody>
      </p:sp>
      <p:pic>
        <p:nvPicPr>
          <p:cNvPr descr="preencoded.png" id="170" name="Google Shape;170;p10"/>
          <p:cNvPicPr preferRelativeResize="0"/>
          <p:nvPr/>
        </p:nvPicPr>
        <p:blipFill rotWithShape="1">
          <a:blip r:embed="rId4">
            <a:alphaModFix/>
          </a:blip>
          <a:srcRect b="0" l="0" r="0" t="0"/>
          <a:stretch/>
        </p:blipFill>
        <p:spPr>
          <a:xfrm>
            <a:off x="1665666" y="1313273"/>
            <a:ext cx="4104814" cy="5603031"/>
          </a:xfrm>
          <a:prstGeom prst="rect">
            <a:avLst/>
          </a:prstGeom>
          <a:noFill/>
          <a:ln cap="sq" cmpd="sng" w="38100">
            <a:solidFill>
              <a:srgbClr val="00B05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171" name="Google Shape;171;p10"/>
          <p:cNvSpPr/>
          <p:nvPr/>
        </p:nvSpPr>
        <p:spPr>
          <a:xfrm>
            <a:off x="7913028" y="7171500"/>
            <a:ext cx="3809100" cy="320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000"/>
              <a:buFont typeface="Alexandria Medium"/>
              <a:buNone/>
            </a:pPr>
            <a:r>
              <a:rPr b="1" lang="en-US" sz="2000">
                <a:solidFill>
                  <a:srgbClr val="FFFFFF"/>
                </a:solidFill>
                <a:latin typeface="Alexandria Medium"/>
                <a:ea typeface="Alexandria Medium"/>
                <a:cs typeface="Alexandria Medium"/>
                <a:sym typeface="Alexandria Medium"/>
              </a:rPr>
              <a:t>         Personalized </a:t>
            </a:r>
            <a:r>
              <a:rPr b="1" lang="en-US" sz="2000">
                <a:solidFill>
                  <a:schemeClr val="lt1"/>
                </a:solidFill>
                <a:latin typeface="Alexandria Medium"/>
                <a:ea typeface="Alexandria Medium"/>
                <a:cs typeface="Alexandria Medium"/>
                <a:sym typeface="Alexandria Medium"/>
              </a:rPr>
              <a:t>Weights</a:t>
            </a:r>
            <a:endParaRPr b="1" sz="2000">
              <a:solidFill>
                <a:schemeClr val="dk1"/>
              </a:solidFill>
              <a:latin typeface="Calibri"/>
              <a:ea typeface="Calibri"/>
              <a:cs typeface="Calibri"/>
              <a:sym typeface="Calibri"/>
            </a:endParaRPr>
          </a:p>
        </p:txBody>
      </p:sp>
      <p:sp>
        <p:nvSpPr>
          <p:cNvPr id="172" name="Google Shape;172;p10"/>
          <p:cNvSpPr/>
          <p:nvPr/>
        </p:nvSpPr>
        <p:spPr>
          <a:xfrm>
            <a:off x="8761325" y="7299625"/>
            <a:ext cx="6509100" cy="70470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1"/>
          <p:cNvSpPr/>
          <p:nvPr/>
        </p:nvSpPr>
        <p:spPr>
          <a:xfrm>
            <a:off x="727825" y="571850"/>
            <a:ext cx="11630700" cy="6498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5CC97B"/>
              </a:buClr>
              <a:buSzPts val="4050"/>
              <a:buFont typeface="Alexandria Medium"/>
              <a:buNone/>
            </a:pPr>
            <a:r>
              <a:rPr b="1" lang="en-US" sz="4050">
                <a:solidFill>
                  <a:srgbClr val="5CC97B"/>
                </a:solidFill>
                <a:latin typeface="Alexandria Medium"/>
                <a:ea typeface="Alexandria Medium"/>
                <a:cs typeface="Alexandria Medium"/>
                <a:sym typeface="Alexandria Medium"/>
              </a:rPr>
              <a:t>Business Opportunities and Target </a:t>
            </a:r>
            <a:r>
              <a:rPr b="1" lang="en-US" sz="4050">
                <a:solidFill>
                  <a:srgbClr val="5CC97B"/>
                </a:solidFill>
                <a:latin typeface="Alexandria Medium"/>
                <a:ea typeface="Alexandria Medium"/>
                <a:cs typeface="Alexandria Medium"/>
                <a:sym typeface="Alexandria Medium"/>
              </a:rPr>
              <a:t>Users</a:t>
            </a:r>
            <a:endParaRPr b="1" sz="4050">
              <a:solidFill>
                <a:schemeClr val="dk1"/>
              </a:solidFill>
              <a:latin typeface="Calibri"/>
              <a:ea typeface="Calibri"/>
              <a:cs typeface="Calibri"/>
              <a:sym typeface="Calibri"/>
            </a:endParaRPr>
          </a:p>
          <a:p>
            <a:pPr indent="0" lvl="0" marL="0" marR="0" rtl="0" algn="l">
              <a:lnSpc>
                <a:spcPct val="125925"/>
              </a:lnSpc>
              <a:spcBef>
                <a:spcPts val="0"/>
              </a:spcBef>
              <a:spcAft>
                <a:spcPts val="0"/>
              </a:spcAft>
              <a:buClr>
                <a:srgbClr val="5CC97B"/>
              </a:buClr>
              <a:buSzPts val="4050"/>
              <a:buFont typeface="Alexandria Medium"/>
              <a:buNone/>
            </a:pPr>
            <a:r>
              <a:t/>
            </a:r>
            <a:endParaRPr b="1" sz="4050">
              <a:solidFill>
                <a:srgbClr val="5CC97B"/>
              </a:solidFill>
              <a:latin typeface="Alexandria Medium"/>
              <a:ea typeface="Alexandria Medium"/>
              <a:cs typeface="Alexandria Medium"/>
              <a:sym typeface="Alexandria Medium"/>
            </a:endParaRPr>
          </a:p>
        </p:txBody>
      </p:sp>
      <p:pic>
        <p:nvPicPr>
          <p:cNvPr descr="preencoded.png" id="179" name="Google Shape;179;p11"/>
          <p:cNvPicPr preferRelativeResize="0"/>
          <p:nvPr/>
        </p:nvPicPr>
        <p:blipFill rotWithShape="1">
          <a:blip r:embed="rId3">
            <a:alphaModFix/>
          </a:blip>
          <a:srcRect b="0" l="0" r="0" t="0"/>
          <a:stretch/>
        </p:blipFill>
        <p:spPr>
          <a:xfrm>
            <a:off x="727829" y="1767364"/>
            <a:ext cx="4052888" cy="4052888"/>
          </a:xfrm>
          <a:prstGeom prst="rect">
            <a:avLst/>
          </a:prstGeom>
          <a:noFill/>
          <a:ln cap="sq" cmpd="sng" w="38100">
            <a:solidFill>
              <a:srgbClr val="00B05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180" name="Google Shape;180;p11"/>
          <p:cNvSpPr/>
          <p:nvPr/>
        </p:nvSpPr>
        <p:spPr>
          <a:xfrm>
            <a:off x="671973" y="6041063"/>
            <a:ext cx="4164600" cy="324900"/>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5CC97B"/>
              </a:buClr>
              <a:buSzPts val="2000"/>
              <a:buFont typeface="Alexandria Medium"/>
              <a:buNone/>
            </a:pPr>
            <a:r>
              <a:rPr b="1" lang="en-US" sz="2000">
                <a:solidFill>
                  <a:srgbClr val="5CC97B"/>
                </a:solidFill>
                <a:latin typeface="Alexandria Medium"/>
                <a:ea typeface="Alexandria Medium"/>
                <a:cs typeface="Alexandria Medium"/>
                <a:sym typeface="Alexandria Medium"/>
              </a:rPr>
              <a:t>Business </a:t>
            </a:r>
            <a:r>
              <a:rPr b="1" lang="en-US" sz="2000">
                <a:solidFill>
                  <a:srgbClr val="5CC97B"/>
                </a:solidFill>
                <a:latin typeface="Alexandria Medium"/>
                <a:ea typeface="Alexandria Medium"/>
                <a:cs typeface="Alexandria Medium"/>
                <a:sym typeface="Alexandria Medium"/>
              </a:rPr>
              <a:t>Opportunities</a:t>
            </a:r>
            <a:r>
              <a:rPr b="1" lang="en-US" sz="2000">
                <a:solidFill>
                  <a:srgbClr val="5CC97B"/>
                </a:solidFill>
                <a:latin typeface="Alexandria Medium"/>
                <a:ea typeface="Alexandria Medium"/>
                <a:cs typeface="Alexandria Medium"/>
                <a:sym typeface="Alexandria Medium"/>
              </a:rPr>
              <a:t> </a:t>
            </a:r>
            <a:endParaRPr b="1" sz="2000">
              <a:solidFill>
                <a:schemeClr val="dk1"/>
              </a:solidFill>
              <a:latin typeface="Calibri"/>
              <a:ea typeface="Calibri"/>
              <a:cs typeface="Calibri"/>
              <a:sym typeface="Calibri"/>
            </a:endParaRPr>
          </a:p>
        </p:txBody>
      </p:sp>
      <p:sp>
        <p:nvSpPr>
          <p:cNvPr id="181" name="Google Shape;181;p11"/>
          <p:cNvSpPr/>
          <p:nvPr/>
        </p:nvSpPr>
        <p:spPr>
          <a:xfrm>
            <a:off x="727829" y="6586776"/>
            <a:ext cx="4052888" cy="665559"/>
          </a:xfrm>
          <a:prstGeom prst="rect">
            <a:avLst/>
          </a:prstGeom>
          <a:noFill/>
          <a:ln>
            <a:noFill/>
          </a:ln>
        </p:spPr>
        <p:txBody>
          <a:bodyPr anchorCtr="0" anchor="t" bIns="0" lIns="0" spcFirstLastPara="1" rIns="0" wrap="square" tIns="0">
            <a:noAutofit/>
          </a:bodyPr>
          <a:lstStyle/>
          <a:p>
            <a:pPr indent="-342900" lvl="0" marL="342900" marR="0" rtl="0" algn="l">
              <a:lnSpc>
                <a:spcPct val="162500"/>
              </a:lnSpc>
              <a:spcBef>
                <a:spcPts val="0"/>
              </a:spcBef>
              <a:spcAft>
                <a:spcPts val="0"/>
              </a:spcAft>
              <a:buClr>
                <a:srgbClr val="FFFFFF"/>
              </a:buClr>
              <a:buSzPts val="1600"/>
              <a:buFont typeface="IBM Plex Sans"/>
              <a:buChar char="•"/>
            </a:pPr>
            <a:r>
              <a:rPr lang="en-US" sz="1600">
                <a:solidFill>
                  <a:srgbClr val="FFFFFF"/>
                </a:solidFill>
                <a:latin typeface="IBM Plex Sans"/>
                <a:ea typeface="IBM Plex Sans"/>
                <a:cs typeface="IBM Plex Sans"/>
                <a:sym typeface="IBM Plex Sans"/>
              </a:rPr>
              <a:t>Revenue generation through API subscription model</a:t>
            </a:r>
            <a:endParaRPr sz="1600">
              <a:solidFill>
                <a:schemeClr val="dk1"/>
              </a:solidFill>
              <a:latin typeface="Calibri"/>
              <a:ea typeface="Calibri"/>
              <a:cs typeface="Calibri"/>
              <a:sym typeface="Calibri"/>
            </a:endParaRPr>
          </a:p>
        </p:txBody>
      </p:sp>
      <p:sp>
        <p:nvSpPr>
          <p:cNvPr id="182" name="Google Shape;182;p11"/>
          <p:cNvSpPr/>
          <p:nvPr/>
        </p:nvSpPr>
        <p:spPr>
          <a:xfrm>
            <a:off x="727829" y="7252335"/>
            <a:ext cx="4052888" cy="665559"/>
          </a:xfrm>
          <a:prstGeom prst="rect">
            <a:avLst/>
          </a:prstGeom>
          <a:noFill/>
          <a:ln>
            <a:noFill/>
          </a:ln>
        </p:spPr>
        <p:txBody>
          <a:bodyPr anchorCtr="0" anchor="t" bIns="0" lIns="0" spcFirstLastPara="1" rIns="0" wrap="square" tIns="0">
            <a:noAutofit/>
          </a:bodyPr>
          <a:lstStyle/>
          <a:p>
            <a:pPr indent="-342900" lvl="0" marL="342900" marR="0" rtl="0" algn="l">
              <a:lnSpc>
                <a:spcPct val="162500"/>
              </a:lnSpc>
              <a:spcBef>
                <a:spcPts val="0"/>
              </a:spcBef>
              <a:spcAft>
                <a:spcPts val="0"/>
              </a:spcAft>
              <a:buClr>
                <a:srgbClr val="FFFFFF"/>
              </a:buClr>
              <a:buSzPts val="1600"/>
              <a:buFont typeface="IBM Plex Sans"/>
              <a:buChar char="•"/>
            </a:pPr>
            <a:r>
              <a:rPr lang="en-US" sz="1600">
                <a:solidFill>
                  <a:srgbClr val="FFFFFF"/>
                </a:solidFill>
                <a:latin typeface="IBM Plex Sans"/>
                <a:ea typeface="IBM Plex Sans"/>
                <a:cs typeface="IBM Plex Sans"/>
                <a:sym typeface="IBM Plex Sans"/>
              </a:rPr>
              <a:t>Data analytics services for music companies</a:t>
            </a:r>
            <a:endParaRPr sz="1600">
              <a:solidFill>
                <a:schemeClr val="dk1"/>
              </a:solidFill>
              <a:latin typeface="Calibri"/>
              <a:ea typeface="Calibri"/>
              <a:cs typeface="Calibri"/>
              <a:sym typeface="Calibri"/>
            </a:endParaRPr>
          </a:p>
        </p:txBody>
      </p:sp>
      <p:pic>
        <p:nvPicPr>
          <p:cNvPr descr="preencoded.png" id="183" name="Google Shape;183;p11"/>
          <p:cNvPicPr preferRelativeResize="0"/>
          <p:nvPr/>
        </p:nvPicPr>
        <p:blipFill rotWithShape="1">
          <a:blip r:embed="rId4">
            <a:alphaModFix/>
          </a:blip>
          <a:srcRect b="0" l="0" r="0" t="0"/>
          <a:stretch/>
        </p:blipFill>
        <p:spPr>
          <a:xfrm>
            <a:off x="5295543" y="1767364"/>
            <a:ext cx="4052888" cy="4052888"/>
          </a:xfrm>
          <a:prstGeom prst="rect">
            <a:avLst/>
          </a:prstGeom>
          <a:noFill/>
          <a:ln cap="sq" cmpd="sng" w="38100">
            <a:solidFill>
              <a:srgbClr val="00B05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184" name="Google Shape;184;p11"/>
          <p:cNvSpPr/>
          <p:nvPr/>
        </p:nvSpPr>
        <p:spPr>
          <a:xfrm>
            <a:off x="5295543" y="6054090"/>
            <a:ext cx="2599372" cy="324802"/>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5CC97B"/>
              </a:buClr>
              <a:buSzPts val="2000"/>
              <a:buFont typeface="Alexandria Medium"/>
              <a:buNone/>
            </a:pPr>
            <a:r>
              <a:rPr b="1" lang="en-US" sz="2000">
                <a:solidFill>
                  <a:srgbClr val="5CC97B"/>
                </a:solidFill>
                <a:latin typeface="Alexandria Medium"/>
                <a:ea typeface="Alexandria Medium"/>
                <a:cs typeface="Alexandria Medium"/>
                <a:sym typeface="Alexandria Medium"/>
              </a:rPr>
              <a:t>Product Features</a:t>
            </a:r>
            <a:endParaRPr b="1" sz="2000">
              <a:solidFill>
                <a:schemeClr val="dk1"/>
              </a:solidFill>
              <a:latin typeface="Calibri"/>
              <a:ea typeface="Calibri"/>
              <a:cs typeface="Calibri"/>
              <a:sym typeface="Calibri"/>
            </a:endParaRPr>
          </a:p>
        </p:txBody>
      </p:sp>
      <p:sp>
        <p:nvSpPr>
          <p:cNvPr id="185" name="Google Shape;185;p11"/>
          <p:cNvSpPr/>
          <p:nvPr/>
        </p:nvSpPr>
        <p:spPr>
          <a:xfrm>
            <a:off x="5295543" y="6586776"/>
            <a:ext cx="4052888" cy="665559"/>
          </a:xfrm>
          <a:prstGeom prst="rect">
            <a:avLst/>
          </a:prstGeom>
          <a:noFill/>
          <a:ln>
            <a:noFill/>
          </a:ln>
        </p:spPr>
        <p:txBody>
          <a:bodyPr anchorCtr="0" anchor="t" bIns="0" lIns="0" spcFirstLastPara="1" rIns="0" wrap="square" tIns="0">
            <a:noAutofit/>
          </a:bodyPr>
          <a:lstStyle/>
          <a:p>
            <a:pPr indent="-342900" lvl="0" marL="342900" marR="0" rtl="0" algn="l">
              <a:lnSpc>
                <a:spcPct val="162500"/>
              </a:lnSpc>
              <a:spcBef>
                <a:spcPts val="0"/>
              </a:spcBef>
              <a:spcAft>
                <a:spcPts val="0"/>
              </a:spcAft>
              <a:buClr>
                <a:srgbClr val="FFFFFF"/>
              </a:buClr>
              <a:buSzPts val="1600"/>
              <a:buFont typeface="IBM Plex Sans"/>
              <a:buChar char="•"/>
            </a:pPr>
            <a:r>
              <a:rPr lang="en-US" sz="1600">
                <a:solidFill>
                  <a:srgbClr val="FFFFFF"/>
                </a:solidFill>
                <a:latin typeface="IBM Plex Sans"/>
                <a:ea typeface="IBM Plex Sans"/>
                <a:cs typeface="IBM Plex Sans"/>
                <a:sym typeface="IBM Plex Sans"/>
              </a:rPr>
              <a:t>Music recommendations based on danceability</a:t>
            </a:r>
            <a:endParaRPr sz="1600">
              <a:solidFill>
                <a:schemeClr val="dk1"/>
              </a:solidFill>
              <a:latin typeface="Calibri"/>
              <a:ea typeface="Calibri"/>
              <a:cs typeface="Calibri"/>
              <a:sym typeface="Calibri"/>
            </a:endParaRPr>
          </a:p>
        </p:txBody>
      </p:sp>
      <p:sp>
        <p:nvSpPr>
          <p:cNvPr id="186" name="Google Shape;186;p11"/>
          <p:cNvSpPr/>
          <p:nvPr/>
        </p:nvSpPr>
        <p:spPr>
          <a:xfrm>
            <a:off x="5295543" y="7249516"/>
            <a:ext cx="4052888" cy="332780"/>
          </a:xfrm>
          <a:prstGeom prst="rect">
            <a:avLst/>
          </a:prstGeom>
          <a:noFill/>
          <a:ln>
            <a:noFill/>
          </a:ln>
        </p:spPr>
        <p:txBody>
          <a:bodyPr anchorCtr="0" anchor="t" bIns="0" lIns="0" spcFirstLastPara="1" rIns="0" wrap="square" tIns="0">
            <a:noAutofit/>
          </a:bodyPr>
          <a:lstStyle/>
          <a:p>
            <a:pPr indent="-342900" lvl="0" marL="342900" marR="0" rtl="0" algn="l">
              <a:lnSpc>
                <a:spcPct val="162500"/>
              </a:lnSpc>
              <a:spcBef>
                <a:spcPts val="0"/>
              </a:spcBef>
              <a:spcAft>
                <a:spcPts val="0"/>
              </a:spcAft>
              <a:buClr>
                <a:srgbClr val="FFFFFF"/>
              </a:buClr>
              <a:buSzPts val="1600"/>
              <a:buFont typeface="IBM Plex Sans"/>
              <a:buChar char="•"/>
            </a:pPr>
            <a:r>
              <a:rPr lang="en-US" sz="1600">
                <a:solidFill>
                  <a:srgbClr val="FFFFFF"/>
                </a:solidFill>
                <a:latin typeface="IBM Plex Sans"/>
                <a:ea typeface="IBM Plex Sans"/>
                <a:cs typeface="IBM Plex Sans"/>
                <a:sym typeface="IBM Plex Sans"/>
              </a:rPr>
              <a:t>Adjustable sliders based on preference</a:t>
            </a:r>
            <a:endParaRPr sz="1600">
              <a:solidFill>
                <a:schemeClr val="dk1"/>
              </a:solidFill>
              <a:latin typeface="Calibri"/>
              <a:ea typeface="Calibri"/>
              <a:cs typeface="Calibri"/>
              <a:sym typeface="Calibri"/>
            </a:endParaRPr>
          </a:p>
        </p:txBody>
      </p:sp>
      <p:pic>
        <p:nvPicPr>
          <p:cNvPr descr="preencoded.png" id="187" name="Google Shape;187;p11"/>
          <p:cNvPicPr preferRelativeResize="0"/>
          <p:nvPr/>
        </p:nvPicPr>
        <p:blipFill rotWithShape="1">
          <a:blip r:embed="rId5">
            <a:alphaModFix/>
          </a:blip>
          <a:srcRect b="0" l="0" r="0" t="0"/>
          <a:stretch/>
        </p:blipFill>
        <p:spPr>
          <a:xfrm>
            <a:off x="9863257" y="1767364"/>
            <a:ext cx="4052888" cy="4052888"/>
          </a:xfrm>
          <a:prstGeom prst="rect">
            <a:avLst/>
          </a:prstGeom>
          <a:noFill/>
          <a:ln cap="sq" cmpd="sng" w="38100">
            <a:solidFill>
              <a:srgbClr val="00B05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188" name="Google Shape;188;p11"/>
          <p:cNvSpPr/>
          <p:nvPr/>
        </p:nvSpPr>
        <p:spPr>
          <a:xfrm>
            <a:off x="9863257" y="6054090"/>
            <a:ext cx="2599372" cy="324802"/>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5CC97B"/>
              </a:buClr>
              <a:buSzPts val="2000"/>
              <a:buFont typeface="Alexandria Medium"/>
              <a:buNone/>
            </a:pPr>
            <a:r>
              <a:rPr b="1" lang="en-US" sz="2000">
                <a:solidFill>
                  <a:srgbClr val="5CC97B"/>
                </a:solidFill>
                <a:latin typeface="Alexandria Medium"/>
                <a:ea typeface="Alexandria Medium"/>
                <a:cs typeface="Alexandria Medium"/>
                <a:sym typeface="Alexandria Medium"/>
              </a:rPr>
              <a:t>Target User Groups</a:t>
            </a:r>
            <a:endParaRPr b="1" sz="2000">
              <a:solidFill>
                <a:schemeClr val="dk1"/>
              </a:solidFill>
              <a:latin typeface="Calibri"/>
              <a:ea typeface="Calibri"/>
              <a:cs typeface="Calibri"/>
              <a:sym typeface="Calibri"/>
            </a:endParaRPr>
          </a:p>
        </p:txBody>
      </p:sp>
      <p:sp>
        <p:nvSpPr>
          <p:cNvPr id="189" name="Google Shape;189;p11"/>
          <p:cNvSpPr/>
          <p:nvPr/>
        </p:nvSpPr>
        <p:spPr>
          <a:xfrm>
            <a:off x="9863257" y="6586776"/>
            <a:ext cx="4052888" cy="665559"/>
          </a:xfrm>
          <a:prstGeom prst="rect">
            <a:avLst/>
          </a:prstGeom>
          <a:noFill/>
          <a:ln>
            <a:noFill/>
          </a:ln>
        </p:spPr>
        <p:txBody>
          <a:bodyPr anchorCtr="0" anchor="t" bIns="0" lIns="0" spcFirstLastPara="1" rIns="0" wrap="square" tIns="0">
            <a:noAutofit/>
          </a:bodyPr>
          <a:lstStyle/>
          <a:p>
            <a:pPr indent="-342900" lvl="0" marL="342900" marR="0" rtl="0" algn="l">
              <a:lnSpc>
                <a:spcPct val="162500"/>
              </a:lnSpc>
              <a:spcBef>
                <a:spcPts val="0"/>
              </a:spcBef>
              <a:spcAft>
                <a:spcPts val="0"/>
              </a:spcAft>
              <a:buClr>
                <a:srgbClr val="FFFFFF"/>
              </a:buClr>
              <a:buSzPts val="1600"/>
              <a:buFont typeface="IBM Plex Sans"/>
              <a:buChar char="•"/>
            </a:pPr>
            <a:r>
              <a:rPr lang="en-US" sz="1600">
                <a:solidFill>
                  <a:srgbClr val="FFFFFF"/>
                </a:solidFill>
                <a:latin typeface="IBM Plex Sans"/>
                <a:ea typeface="IBM Plex Sans"/>
                <a:cs typeface="IBM Plex Sans"/>
                <a:sym typeface="IBM Plex Sans"/>
              </a:rPr>
              <a:t>Music enthusiasts seeking personalized experiences</a:t>
            </a:r>
            <a:endParaRPr sz="1600">
              <a:solidFill>
                <a:schemeClr val="dk1"/>
              </a:solidFill>
              <a:latin typeface="Calibri"/>
              <a:ea typeface="Calibri"/>
              <a:cs typeface="Calibri"/>
              <a:sym typeface="Calibri"/>
            </a:endParaRPr>
          </a:p>
        </p:txBody>
      </p:sp>
      <p:sp>
        <p:nvSpPr>
          <p:cNvPr id="190" name="Google Shape;190;p11"/>
          <p:cNvSpPr/>
          <p:nvPr/>
        </p:nvSpPr>
        <p:spPr>
          <a:xfrm>
            <a:off x="9863257" y="7233998"/>
            <a:ext cx="4052888" cy="332780"/>
          </a:xfrm>
          <a:prstGeom prst="rect">
            <a:avLst/>
          </a:prstGeom>
          <a:noFill/>
          <a:ln>
            <a:noFill/>
          </a:ln>
        </p:spPr>
        <p:txBody>
          <a:bodyPr anchorCtr="0" anchor="t" bIns="0" lIns="0" spcFirstLastPara="1" rIns="0" wrap="square" tIns="0">
            <a:noAutofit/>
          </a:bodyPr>
          <a:lstStyle/>
          <a:p>
            <a:pPr indent="-342900" lvl="0" marL="342900" marR="0" rtl="0" algn="l">
              <a:lnSpc>
                <a:spcPct val="162500"/>
              </a:lnSpc>
              <a:spcBef>
                <a:spcPts val="0"/>
              </a:spcBef>
              <a:spcAft>
                <a:spcPts val="0"/>
              </a:spcAft>
              <a:buClr>
                <a:srgbClr val="FFFFFF"/>
              </a:buClr>
              <a:buSzPts val="1600"/>
              <a:buFont typeface="IBM Plex Sans"/>
              <a:buChar char="•"/>
            </a:pPr>
            <a:r>
              <a:rPr lang="en-US" sz="1600">
                <a:solidFill>
                  <a:srgbClr val="FFFFFF"/>
                </a:solidFill>
                <a:latin typeface="IBM Plex Sans"/>
                <a:ea typeface="IBM Plex Sans"/>
                <a:cs typeface="IBM Plex Sans"/>
                <a:sym typeface="IBM Plex Sans"/>
              </a:rPr>
              <a:t>Explorers looking for new music</a:t>
            </a:r>
            <a:endParaRPr sz="16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2"/>
          <p:cNvSpPr/>
          <p:nvPr/>
        </p:nvSpPr>
        <p:spPr>
          <a:xfrm>
            <a:off x="575424" y="452075"/>
            <a:ext cx="8050200" cy="513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CC97B"/>
              </a:buClr>
              <a:buSzPts val="3200"/>
              <a:buFont typeface="Alexandria Medium"/>
              <a:buNone/>
            </a:pPr>
            <a:r>
              <a:rPr b="1" lang="en-US" sz="3200">
                <a:solidFill>
                  <a:srgbClr val="5CC97B"/>
                </a:solidFill>
                <a:latin typeface="Alexandria Medium"/>
                <a:ea typeface="Alexandria Medium"/>
                <a:cs typeface="Alexandria Medium"/>
                <a:sym typeface="Alexandria Medium"/>
              </a:rPr>
              <a:t>Feature Monetization Strategy</a:t>
            </a:r>
            <a:endParaRPr b="1" sz="3200">
              <a:solidFill>
                <a:schemeClr val="dk1"/>
              </a:solidFill>
              <a:latin typeface="Calibri"/>
              <a:ea typeface="Calibri"/>
              <a:cs typeface="Calibri"/>
              <a:sym typeface="Calibri"/>
            </a:endParaRPr>
          </a:p>
        </p:txBody>
      </p:sp>
      <p:pic>
        <p:nvPicPr>
          <p:cNvPr descr="preencoded.png" id="197" name="Google Shape;197;p12"/>
          <p:cNvPicPr preferRelativeResize="0"/>
          <p:nvPr/>
        </p:nvPicPr>
        <p:blipFill rotWithShape="1">
          <a:blip r:embed="rId3">
            <a:alphaModFix/>
          </a:blip>
          <a:srcRect b="0" l="0" r="0" t="0"/>
          <a:stretch/>
        </p:blipFill>
        <p:spPr>
          <a:xfrm>
            <a:off x="575429" y="1397318"/>
            <a:ext cx="4225290" cy="4225290"/>
          </a:xfrm>
          <a:prstGeom prst="rect">
            <a:avLst/>
          </a:prstGeom>
          <a:noFill/>
          <a:ln cap="sq" cmpd="sng" w="38100">
            <a:solidFill>
              <a:srgbClr val="00B05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198" name="Google Shape;198;p12"/>
          <p:cNvSpPr/>
          <p:nvPr/>
        </p:nvSpPr>
        <p:spPr>
          <a:xfrm>
            <a:off x="575424" y="5807500"/>
            <a:ext cx="3892800" cy="25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CC97B"/>
              </a:buClr>
              <a:buSzPts val="2000"/>
              <a:buFont typeface="Alexandria Medium"/>
              <a:buNone/>
            </a:pPr>
            <a:r>
              <a:rPr b="1" lang="en-US" sz="2000">
                <a:solidFill>
                  <a:srgbClr val="5CC97B"/>
                </a:solidFill>
                <a:latin typeface="Alexandria Medium"/>
                <a:ea typeface="Alexandria Medium"/>
                <a:cs typeface="Alexandria Medium"/>
                <a:sym typeface="Alexandria Medium"/>
              </a:rPr>
              <a:t>Premium Feature Integration</a:t>
            </a:r>
            <a:endParaRPr b="1" sz="2000">
              <a:solidFill>
                <a:schemeClr val="dk1"/>
              </a:solidFill>
              <a:latin typeface="Calibri"/>
              <a:ea typeface="Calibri"/>
              <a:cs typeface="Calibri"/>
              <a:sym typeface="Calibri"/>
            </a:endParaRPr>
          </a:p>
        </p:txBody>
      </p:sp>
      <p:sp>
        <p:nvSpPr>
          <p:cNvPr id="199" name="Google Shape;199;p12"/>
          <p:cNvSpPr/>
          <p:nvPr/>
        </p:nvSpPr>
        <p:spPr>
          <a:xfrm>
            <a:off x="575429" y="6228636"/>
            <a:ext cx="4225290" cy="789027"/>
          </a:xfrm>
          <a:prstGeom prst="rect">
            <a:avLst/>
          </a:prstGeom>
          <a:noFill/>
          <a:ln>
            <a:noFill/>
          </a:ln>
        </p:spPr>
        <p:txBody>
          <a:bodyPr anchorCtr="0" anchor="t" bIns="0" lIns="0" spcFirstLastPara="1" rIns="0" wrap="square" tIns="0">
            <a:noAutofit/>
          </a:bodyPr>
          <a:lstStyle/>
          <a:p>
            <a:pPr indent="-342900" lvl="0" marL="342900" marR="0" rtl="0" algn="l">
              <a:lnSpc>
                <a:spcPct val="164000"/>
              </a:lnSpc>
              <a:spcBef>
                <a:spcPts val="0"/>
              </a:spcBef>
              <a:spcAft>
                <a:spcPts val="0"/>
              </a:spcAft>
              <a:buClr>
                <a:srgbClr val="FFFFFF"/>
              </a:buClr>
              <a:buSzPts val="1250"/>
              <a:buFont typeface="IBM Plex Sans"/>
              <a:buChar char="•"/>
            </a:pPr>
            <a:r>
              <a:rPr lang="en-US" sz="1250">
                <a:solidFill>
                  <a:srgbClr val="FFFFFF"/>
                </a:solidFill>
                <a:latin typeface="IBM Plex Sans"/>
                <a:ea typeface="IBM Plex Sans"/>
                <a:cs typeface="IBM Plex Sans"/>
                <a:sym typeface="IBM Plex Sans"/>
              </a:rPr>
              <a:t>Introduce advanced music mood and energy level filters as premium features, creating new revenue streams through enhanced subscription tiers.</a:t>
            </a:r>
            <a:endParaRPr sz="1250">
              <a:solidFill>
                <a:schemeClr val="dk1"/>
              </a:solidFill>
              <a:latin typeface="Calibri"/>
              <a:ea typeface="Calibri"/>
              <a:cs typeface="Calibri"/>
              <a:sym typeface="Calibri"/>
            </a:endParaRPr>
          </a:p>
        </p:txBody>
      </p:sp>
      <p:pic>
        <p:nvPicPr>
          <p:cNvPr descr="preencoded.png" id="200" name="Google Shape;200;p12"/>
          <p:cNvPicPr preferRelativeResize="0"/>
          <p:nvPr/>
        </p:nvPicPr>
        <p:blipFill rotWithShape="1">
          <a:blip r:embed="rId4">
            <a:alphaModFix/>
          </a:blip>
          <a:srcRect b="0" l="0" r="0" t="0"/>
          <a:stretch/>
        </p:blipFill>
        <p:spPr>
          <a:xfrm>
            <a:off x="5209342" y="1397318"/>
            <a:ext cx="4225290" cy="4225290"/>
          </a:xfrm>
          <a:prstGeom prst="rect">
            <a:avLst/>
          </a:prstGeom>
          <a:noFill/>
          <a:ln cap="sq" cmpd="sng" w="38100">
            <a:solidFill>
              <a:srgbClr val="00B05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201" name="Google Shape;201;p12"/>
          <p:cNvSpPr/>
          <p:nvPr/>
        </p:nvSpPr>
        <p:spPr>
          <a:xfrm>
            <a:off x="5209358" y="5807500"/>
            <a:ext cx="4225200" cy="25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CC97B"/>
              </a:buClr>
              <a:buSzPts val="2000"/>
              <a:buFont typeface="Alexandria Medium"/>
              <a:buNone/>
            </a:pPr>
            <a:r>
              <a:rPr b="1" lang="en-US" sz="2000">
                <a:solidFill>
                  <a:srgbClr val="5CC97B"/>
                </a:solidFill>
                <a:latin typeface="Alexandria Medium"/>
                <a:ea typeface="Alexandria Medium"/>
                <a:cs typeface="Alexandria Medium"/>
                <a:sym typeface="Alexandria Medium"/>
              </a:rPr>
              <a:t>Partner Integration</a:t>
            </a:r>
            <a:endParaRPr b="1" sz="2000">
              <a:solidFill>
                <a:schemeClr val="dk1"/>
              </a:solidFill>
              <a:latin typeface="Calibri"/>
              <a:ea typeface="Calibri"/>
              <a:cs typeface="Calibri"/>
              <a:sym typeface="Calibri"/>
            </a:endParaRPr>
          </a:p>
        </p:txBody>
      </p:sp>
      <p:sp>
        <p:nvSpPr>
          <p:cNvPr id="202" name="Google Shape;202;p12"/>
          <p:cNvSpPr/>
          <p:nvPr/>
        </p:nvSpPr>
        <p:spPr>
          <a:xfrm>
            <a:off x="5209342" y="6228636"/>
            <a:ext cx="4225290" cy="905694"/>
          </a:xfrm>
          <a:prstGeom prst="rect">
            <a:avLst/>
          </a:prstGeom>
          <a:noFill/>
          <a:ln>
            <a:noFill/>
          </a:ln>
        </p:spPr>
        <p:txBody>
          <a:bodyPr anchorCtr="0" anchor="t" bIns="0" lIns="0" spcFirstLastPara="1" rIns="0" wrap="square" tIns="0">
            <a:noAutofit/>
          </a:bodyPr>
          <a:lstStyle/>
          <a:p>
            <a:pPr indent="-342900" lvl="0" marL="342900" marR="0" rtl="0" algn="l">
              <a:lnSpc>
                <a:spcPct val="164000"/>
              </a:lnSpc>
              <a:spcBef>
                <a:spcPts val="0"/>
              </a:spcBef>
              <a:spcAft>
                <a:spcPts val="0"/>
              </a:spcAft>
              <a:buClr>
                <a:srgbClr val="FFFFFF"/>
              </a:buClr>
              <a:buSzPts val="1250"/>
              <a:buFont typeface="IBM Plex Sans"/>
              <a:buChar char="•"/>
            </a:pPr>
            <a:r>
              <a:rPr lang="en-US" sz="1250">
                <a:solidFill>
                  <a:srgbClr val="FFFFFF"/>
                </a:solidFill>
                <a:latin typeface="IBM Plex Sans"/>
                <a:ea typeface="IBM Plex Sans"/>
                <a:cs typeface="IBM Plex Sans"/>
                <a:sym typeface="IBM Plex Sans"/>
              </a:rPr>
              <a:t>Enable third-party applications to integrate our feature APIs, generating revenue through API licensing while expanding the ecosystem.</a:t>
            </a:r>
            <a:endParaRPr sz="1250">
              <a:solidFill>
                <a:schemeClr val="dk1"/>
              </a:solidFill>
              <a:latin typeface="Calibri"/>
              <a:ea typeface="Calibri"/>
              <a:cs typeface="Calibri"/>
              <a:sym typeface="Calibri"/>
            </a:endParaRPr>
          </a:p>
        </p:txBody>
      </p:sp>
      <p:pic>
        <p:nvPicPr>
          <p:cNvPr descr="preencoded.png" id="203" name="Google Shape;203;p12"/>
          <p:cNvPicPr preferRelativeResize="0"/>
          <p:nvPr/>
        </p:nvPicPr>
        <p:blipFill rotWithShape="1">
          <a:blip r:embed="rId5">
            <a:alphaModFix/>
          </a:blip>
          <a:srcRect b="0" l="0" r="0" t="0"/>
          <a:stretch/>
        </p:blipFill>
        <p:spPr>
          <a:xfrm>
            <a:off x="9843254" y="1397318"/>
            <a:ext cx="4225290" cy="4225290"/>
          </a:xfrm>
          <a:prstGeom prst="rect">
            <a:avLst/>
          </a:prstGeom>
          <a:noFill/>
          <a:ln cap="sq" cmpd="sng" w="38100">
            <a:solidFill>
              <a:srgbClr val="00B05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204" name="Google Shape;204;p12"/>
          <p:cNvSpPr/>
          <p:nvPr/>
        </p:nvSpPr>
        <p:spPr>
          <a:xfrm>
            <a:off x="9843248" y="5807500"/>
            <a:ext cx="4339500" cy="25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CC97B"/>
              </a:buClr>
              <a:buSzPts val="2000"/>
              <a:buFont typeface="Alexandria Medium"/>
              <a:buNone/>
            </a:pPr>
            <a:r>
              <a:rPr b="1" lang="en-US" sz="2000">
                <a:solidFill>
                  <a:srgbClr val="5CC97B"/>
                </a:solidFill>
                <a:latin typeface="Alexandria Medium"/>
                <a:ea typeface="Alexandria Medium"/>
                <a:cs typeface="Alexandria Medium"/>
                <a:sym typeface="Alexandria Medium"/>
              </a:rPr>
              <a:t>Enhancing User Experience</a:t>
            </a:r>
            <a:endParaRPr b="1" sz="2000">
              <a:solidFill>
                <a:schemeClr val="dk1"/>
              </a:solidFill>
              <a:latin typeface="Calibri"/>
              <a:ea typeface="Calibri"/>
              <a:cs typeface="Calibri"/>
              <a:sym typeface="Calibri"/>
            </a:endParaRPr>
          </a:p>
        </p:txBody>
      </p:sp>
      <p:sp>
        <p:nvSpPr>
          <p:cNvPr id="205" name="Google Shape;205;p12"/>
          <p:cNvSpPr/>
          <p:nvPr/>
        </p:nvSpPr>
        <p:spPr>
          <a:xfrm>
            <a:off x="9843254" y="6228636"/>
            <a:ext cx="4225290" cy="1578054"/>
          </a:xfrm>
          <a:prstGeom prst="rect">
            <a:avLst/>
          </a:prstGeom>
          <a:noFill/>
          <a:ln>
            <a:noFill/>
          </a:ln>
        </p:spPr>
        <p:txBody>
          <a:bodyPr anchorCtr="0" anchor="t" bIns="0" lIns="0" spcFirstLastPara="1" rIns="0" wrap="square" tIns="0">
            <a:noAutofit/>
          </a:bodyPr>
          <a:lstStyle/>
          <a:p>
            <a:pPr indent="-342900" lvl="0" marL="342900" marR="0" rtl="0" algn="l">
              <a:lnSpc>
                <a:spcPct val="164000"/>
              </a:lnSpc>
              <a:spcBef>
                <a:spcPts val="0"/>
              </a:spcBef>
              <a:spcAft>
                <a:spcPts val="0"/>
              </a:spcAft>
              <a:buClr>
                <a:srgbClr val="FFFFFF"/>
              </a:buClr>
              <a:buSzPts val="1250"/>
              <a:buFont typeface="IBM Plex Sans"/>
              <a:buChar char="•"/>
            </a:pPr>
            <a:r>
              <a:rPr lang="en-US" sz="1250">
                <a:solidFill>
                  <a:srgbClr val="FFFFFF"/>
                </a:solidFill>
                <a:latin typeface="IBM Plex Sans"/>
                <a:ea typeface="IBM Plex Sans"/>
                <a:cs typeface="IBM Plex Sans"/>
                <a:sym typeface="IBM Plex Sans"/>
              </a:rPr>
              <a:t>Provide enhanced music recommendations by leveraging feature-based similarity analysis, offering users a tailored and engaging listening experience. Users gain more control over their music journey with intuitive features that help them discover songs matching their exact preferences and current mood.</a:t>
            </a:r>
            <a:endParaRPr sz="125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3"/>
          <p:cNvSpPr/>
          <p:nvPr/>
        </p:nvSpPr>
        <p:spPr>
          <a:xfrm>
            <a:off x="793811" y="1586100"/>
            <a:ext cx="6361200" cy="708900"/>
          </a:xfrm>
          <a:prstGeom prst="rect">
            <a:avLst/>
          </a:prstGeom>
          <a:noFill/>
          <a:ln>
            <a:noFill/>
          </a:ln>
        </p:spPr>
        <p:txBody>
          <a:bodyPr anchorCtr="0" anchor="t" bIns="0" lIns="0" spcFirstLastPara="1" rIns="0" wrap="square" tIns="0">
            <a:noAutofit/>
          </a:bodyPr>
          <a:lstStyle/>
          <a:p>
            <a:pPr indent="0" lvl="0" marL="0" marR="0" rtl="0" algn="l">
              <a:lnSpc>
                <a:spcPct val="102777"/>
              </a:lnSpc>
              <a:spcBef>
                <a:spcPts val="0"/>
              </a:spcBef>
              <a:spcAft>
                <a:spcPts val="0"/>
              </a:spcAft>
              <a:buClr>
                <a:srgbClr val="5CC97B"/>
              </a:buClr>
              <a:buSzPts val="5400"/>
              <a:buFont typeface="Alexandria Medium"/>
              <a:buNone/>
            </a:pPr>
            <a:r>
              <a:rPr b="1" lang="en-US" sz="5400">
                <a:solidFill>
                  <a:schemeClr val="dk1"/>
                </a:solidFill>
                <a:latin typeface="Calibri"/>
                <a:ea typeface="Calibri"/>
                <a:cs typeface="Calibri"/>
                <a:sym typeface="Calibri"/>
              </a:rPr>
              <a:t>L</a:t>
            </a:r>
            <a:r>
              <a:rPr b="1" lang="en-US" sz="5400">
                <a:solidFill>
                  <a:srgbClr val="5CC97B"/>
                </a:solidFill>
                <a:latin typeface="Calibri"/>
                <a:ea typeface="Calibri"/>
                <a:cs typeface="Calibri"/>
                <a:sym typeface="Calibri"/>
              </a:rPr>
              <a:t>Limitations:</a:t>
            </a:r>
            <a:endParaRPr b="1" sz="5400">
              <a:solidFill>
                <a:srgbClr val="5CC97B"/>
              </a:solidFill>
              <a:latin typeface="Calibri"/>
              <a:ea typeface="Calibri"/>
              <a:cs typeface="Calibri"/>
              <a:sym typeface="Calibri"/>
            </a:endParaRPr>
          </a:p>
        </p:txBody>
      </p:sp>
      <p:sp>
        <p:nvSpPr>
          <p:cNvPr id="212" name="Google Shape;212;p13"/>
          <p:cNvSpPr/>
          <p:nvPr/>
        </p:nvSpPr>
        <p:spPr>
          <a:xfrm>
            <a:off x="793790" y="2564490"/>
            <a:ext cx="13042821" cy="1088708"/>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chemeClr val="lt1"/>
              </a:buClr>
              <a:buSzPts val="1750"/>
              <a:buFont typeface="IBM Plex Sans"/>
              <a:buChar char="•"/>
            </a:pPr>
            <a:r>
              <a:rPr b="1" lang="en-US" sz="1750">
                <a:solidFill>
                  <a:schemeClr val="lt1"/>
                </a:solidFill>
                <a:latin typeface="IBM Plex Sans"/>
                <a:ea typeface="IBM Plex Sans"/>
                <a:cs typeface="IBM Plex Sans"/>
                <a:sym typeface="IBM Plex Sans"/>
              </a:rPr>
              <a:t>Depen</a:t>
            </a:r>
            <a:r>
              <a:rPr b="1" lang="en-US" sz="1750">
                <a:solidFill>
                  <a:schemeClr val="lt1"/>
                </a:solidFill>
                <a:latin typeface="IBM Plex Sans"/>
                <a:ea typeface="IBM Plex Sans"/>
                <a:cs typeface="IBM Plex Sans"/>
                <a:sym typeface="IBM Plex Sans"/>
              </a:rPr>
              <a:t>dence on Dataset Quality</a:t>
            </a:r>
            <a:r>
              <a:rPr lang="en-US" sz="1750">
                <a:solidFill>
                  <a:schemeClr val="lt1"/>
                </a:solidFill>
                <a:latin typeface="IBM Plex Sans"/>
                <a:ea typeface="IBM Plex Sans"/>
                <a:cs typeface="IBM Plex Sans"/>
                <a:sym typeface="IBM Plex Sans"/>
              </a:rPr>
              <a:t>: The accuracy and relevance of recommendations are highly dependent on the completeness, diversity, and accuracy of the dataset used. If the dataset lacks variety or contains outdated information, the recommendations may not reflect current user preferences.</a:t>
            </a:r>
            <a:endParaRPr sz="1750">
              <a:solidFill>
                <a:schemeClr val="lt1"/>
              </a:solidFill>
              <a:latin typeface="Calibri"/>
              <a:ea typeface="Calibri"/>
              <a:cs typeface="Calibri"/>
              <a:sym typeface="Calibri"/>
            </a:endParaRPr>
          </a:p>
        </p:txBody>
      </p:sp>
      <p:sp>
        <p:nvSpPr>
          <p:cNvPr id="213" name="Google Shape;213;p13"/>
          <p:cNvSpPr/>
          <p:nvPr/>
        </p:nvSpPr>
        <p:spPr>
          <a:xfrm>
            <a:off x="793789" y="3931799"/>
            <a:ext cx="13042821"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chemeClr val="lt1"/>
              </a:buClr>
              <a:buSzPts val="1750"/>
              <a:buFont typeface="IBM Plex Sans"/>
              <a:buChar char="•"/>
            </a:pPr>
            <a:r>
              <a:rPr b="1" lang="en-US" sz="1750">
                <a:solidFill>
                  <a:schemeClr val="lt1"/>
                </a:solidFill>
                <a:latin typeface="IBM Plex Sans"/>
                <a:ea typeface="IBM Plex Sans"/>
                <a:cs typeface="IBM Plex Sans"/>
                <a:sym typeface="IBM Plex Sans"/>
              </a:rPr>
              <a:t>Exact Match Requirement</a:t>
            </a:r>
            <a:r>
              <a:rPr lang="en-US" sz="1750">
                <a:solidFill>
                  <a:schemeClr val="lt1"/>
                </a:solidFill>
                <a:latin typeface="IBM Plex Sans"/>
                <a:ea typeface="IBM Plex Sans"/>
                <a:cs typeface="IBM Plex Sans"/>
                <a:sym typeface="IBM Plex Sans"/>
              </a:rPr>
              <a:t>: Although the project incorporates fuzzy matching, users may still face difficulties if the entered song name significantly deviates from the dataset's format, limiting accessibility for users unfamiliar with the exact titles.</a:t>
            </a:r>
            <a:endParaRPr sz="1750">
              <a:solidFill>
                <a:schemeClr val="lt1"/>
              </a:solidFill>
              <a:latin typeface="Calibri"/>
              <a:ea typeface="Calibri"/>
              <a:cs typeface="Calibri"/>
              <a:sym typeface="Calibri"/>
            </a:endParaRPr>
          </a:p>
        </p:txBody>
      </p:sp>
      <p:sp>
        <p:nvSpPr>
          <p:cNvPr id="214" name="Google Shape;214;p13"/>
          <p:cNvSpPr/>
          <p:nvPr/>
        </p:nvSpPr>
        <p:spPr>
          <a:xfrm>
            <a:off x="793790" y="4936205"/>
            <a:ext cx="13042821"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chemeClr val="lt1"/>
              </a:buClr>
              <a:buSzPts val="1750"/>
              <a:buFont typeface="IBM Plex Sans"/>
              <a:buChar char="•"/>
            </a:pPr>
            <a:r>
              <a:rPr b="1" lang="en-US" sz="1750">
                <a:solidFill>
                  <a:schemeClr val="lt1"/>
                </a:solidFill>
                <a:latin typeface="IBM Plex Sans"/>
                <a:ea typeface="IBM Plex Sans"/>
                <a:cs typeface="IBM Plex Sans"/>
                <a:sym typeface="IBM Plex Sans"/>
              </a:rPr>
              <a:t>Scalability Issues</a:t>
            </a:r>
            <a:r>
              <a:rPr lang="en-US" sz="1750">
                <a:solidFill>
                  <a:schemeClr val="lt1"/>
                </a:solidFill>
                <a:latin typeface="IBM Plex Sans"/>
                <a:ea typeface="IBM Plex Sans"/>
                <a:cs typeface="IBM Plex Sans"/>
                <a:sym typeface="IBM Plex Sans"/>
              </a:rPr>
              <a:t>: The algorithm might face issues with scalability when applied to very large datasets, as the computation of similarity matrices can become resource-intensive, potentially leading to slower performance.</a:t>
            </a:r>
            <a:endParaRPr sz="1750">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4"/>
          <p:cNvSpPr/>
          <p:nvPr/>
        </p:nvSpPr>
        <p:spPr>
          <a:xfrm>
            <a:off x="793790" y="2059424"/>
            <a:ext cx="892171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5CC97B"/>
              </a:buClr>
              <a:buSzPts val="4450"/>
              <a:buFont typeface="Alexandria Medium"/>
              <a:buNone/>
            </a:pPr>
            <a:r>
              <a:rPr b="1" lang="en-US" sz="4450">
                <a:solidFill>
                  <a:srgbClr val="5CC97B"/>
                </a:solidFill>
                <a:latin typeface="Alexandria Medium"/>
                <a:ea typeface="Alexandria Medium"/>
                <a:cs typeface="Alexandria Medium"/>
                <a:sym typeface="Alexandria Medium"/>
              </a:rPr>
              <a:t>Thank You for Your Attention</a:t>
            </a:r>
            <a:endParaRPr b="1" sz="4450">
              <a:solidFill>
                <a:schemeClr val="dk1"/>
              </a:solidFill>
              <a:latin typeface="Calibri"/>
              <a:ea typeface="Calibri"/>
              <a:cs typeface="Calibri"/>
              <a:sym typeface="Calibri"/>
            </a:endParaRPr>
          </a:p>
        </p:txBody>
      </p:sp>
      <p:sp>
        <p:nvSpPr>
          <p:cNvPr id="221" name="Google Shape;221;p14"/>
          <p:cNvSpPr/>
          <p:nvPr/>
        </p:nvSpPr>
        <p:spPr>
          <a:xfrm>
            <a:off x="793790" y="3108365"/>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FFFFF"/>
              </a:buClr>
              <a:buSzPts val="1750"/>
              <a:buFont typeface="IBM Plex Sans"/>
              <a:buNone/>
            </a:pPr>
            <a:r>
              <a:rPr lang="en-US" sz="1750">
                <a:solidFill>
                  <a:srgbClr val="FFFFFF"/>
                </a:solidFill>
                <a:latin typeface="IBM Plex Sans"/>
                <a:ea typeface="IBM Plex Sans"/>
                <a:cs typeface="IBM Plex Sans"/>
                <a:sym typeface="IBM Plex Sans"/>
              </a:rPr>
              <a:t>Thank you very much for your interest!</a:t>
            </a:r>
            <a:endParaRPr sz="1750">
              <a:solidFill>
                <a:schemeClr val="dk1"/>
              </a:solidFill>
              <a:latin typeface="Calibri"/>
              <a:ea typeface="Calibri"/>
              <a:cs typeface="Calibri"/>
              <a:sym typeface="Calibri"/>
            </a:endParaRPr>
          </a:p>
        </p:txBody>
      </p:sp>
      <p:sp>
        <p:nvSpPr>
          <p:cNvPr id="222" name="Google Shape;222;p14"/>
          <p:cNvSpPr/>
          <p:nvPr/>
        </p:nvSpPr>
        <p:spPr>
          <a:xfrm>
            <a:off x="793790" y="3981569"/>
            <a:ext cx="396835" cy="396835"/>
          </a:xfrm>
          <a:prstGeom prst="roundRect">
            <a:avLst>
              <a:gd fmla="val 8574" name="adj"/>
            </a:avLst>
          </a:prstGeom>
          <a:solidFill>
            <a:srgbClr val="EE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4"/>
          <p:cNvSpPr/>
          <p:nvPr/>
        </p:nvSpPr>
        <p:spPr>
          <a:xfrm>
            <a:off x="1417455" y="3981575"/>
            <a:ext cx="41538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CC97B"/>
              </a:buClr>
              <a:buSzPts val="2200"/>
              <a:buFont typeface="Alexandria Medium"/>
              <a:buNone/>
            </a:pPr>
            <a:r>
              <a:rPr b="1" lang="en-US" sz="2200">
                <a:solidFill>
                  <a:srgbClr val="5CC97B"/>
                </a:solidFill>
                <a:latin typeface="Alexandria Medium"/>
                <a:ea typeface="Alexandria Medium"/>
                <a:cs typeface="Alexandria Medium"/>
                <a:sym typeface="Alexandria Medium"/>
              </a:rPr>
              <a:t>Questions Welcome</a:t>
            </a:r>
            <a:endParaRPr b="1" sz="2200">
              <a:solidFill>
                <a:schemeClr val="dk1"/>
              </a:solidFill>
              <a:latin typeface="Calibri"/>
              <a:ea typeface="Calibri"/>
              <a:cs typeface="Calibri"/>
              <a:sym typeface="Calibri"/>
            </a:endParaRPr>
          </a:p>
        </p:txBody>
      </p:sp>
      <p:sp>
        <p:nvSpPr>
          <p:cNvPr id="224" name="Google Shape;224;p14"/>
          <p:cNvSpPr/>
          <p:nvPr/>
        </p:nvSpPr>
        <p:spPr>
          <a:xfrm>
            <a:off x="1417439" y="4471988"/>
            <a:ext cx="1241917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FFFFF"/>
              </a:buClr>
              <a:buSzPts val="1750"/>
              <a:buFont typeface="IBM Plex Sans"/>
              <a:buNone/>
            </a:pPr>
            <a:r>
              <a:rPr lang="en-US" sz="1750">
                <a:solidFill>
                  <a:srgbClr val="FFFFFF"/>
                </a:solidFill>
                <a:latin typeface="IBM Plex Sans"/>
                <a:ea typeface="IBM Plex Sans"/>
                <a:cs typeface="IBM Plex Sans"/>
                <a:sym typeface="IBM Plex Sans"/>
              </a:rPr>
              <a:t>I am</a:t>
            </a:r>
            <a:r>
              <a:rPr lang="en-US" sz="1750">
                <a:solidFill>
                  <a:srgbClr val="FFFFFF"/>
                </a:solidFill>
                <a:latin typeface="IBM Plex Sans"/>
                <a:ea typeface="IBM Plex Sans"/>
                <a:cs typeface="IBM Plex Sans"/>
                <a:sym typeface="IBM Plex Sans"/>
              </a:rPr>
              <a:t> happy to answer any questions</a:t>
            </a:r>
            <a:endParaRPr sz="1750">
              <a:solidFill>
                <a:schemeClr val="dk1"/>
              </a:solidFill>
              <a:latin typeface="Calibri"/>
              <a:ea typeface="Calibri"/>
              <a:cs typeface="Calibri"/>
              <a:sym typeface="Calibri"/>
            </a:endParaRPr>
          </a:p>
        </p:txBody>
      </p:sp>
      <p:sp>
        <p:nvSpPr>
          <p:cNvPr id="225" name="Google Shape;225;p14"/>
          <p:cNvSpPr/>
          <p:nvPr/>
        </p:nvSpPr>
        <p:spPr>
          <a:xfrm>
            <a:off x="793790" y="5316855"/>
            <a:ext cx="396835" cy="396835"/>
          </a:xfrm>
          <a:prstGeom prst="roundRect">
            <a:avLst>
              <a:gd fmla="val 8574" name="adj"/>
            </a:avLst>
          </a:prstGeom>
          <a:solidFill>
            <a:srgbClr val="EE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4"/>
          <p:cNvSpPr/>
          <p:nvPr/>
        </p:nvSpPr>
        <p:spPr>
          <a:xfrm>
            <a:off x="1417439" y="5316855"/>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CC97B"/>
              </a:buClr>
              <a:buSzPts val="2200"/>
              <a:buFont typeface="Alexandria Medium"/>
              <a:buNone/>
            </a:pPr>
            <a:r>
              <a:rPr b="1" lang="en-US" sz="2200">
                <a:solidFill>
                  <a:srgbClr val="5CC97B"/>
                </a:solidFill>
                <a:latin typeface="Alexandria Medium"/>
                <a:ea typeface="Alexandria Medium"/>
                <a:cs typeface="Alexandria Medium"/>
                <a:sym typeface="Alexandria Medium"/>
              </a:rPr>
              <a:t>Open Discussion</a:t>
            </a:r>
            <a:endParaRPr b="1" sz="2200">
              <a:solidFill>
                <a:schemeClr val="dk1"/>
              </a:solidFill>
              <a:latin typeface="Calibri"/>
              <a:ea typeface="Calibri"/>
              <a:cs typeface="Calibri"/>
              <a:sym typeface="Calibri"/>
            </a:endParaRPr>
          </a:p>
        </p:txBody>
      </p:sp>
      <p:sp>
        <p:nvSpPr>
          <p:cNvPr id="227" name="Google Shape;227;p14"/>
          <p:cNvSpPr/>
          <p:nvPr/>
        </p:nvSpPr>
        <p:spPr>
          <a:xfrm>
            <a:off x="1417439" y="5807273"/>
            <a:ext cx="1241917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FFFFFF"/>
              </a:buClr>
              <a:buSzPts val="1750"/>
              <a:buFont typeface="IBM Plex Sans"/>
              <a:buNone/>
            </a:pPr>
            <a:r>
              <a:rPr lang="en-US" sz="1750">
                <a:solidFill>
                  <a:srgbClr val="FFFFFF"/>
                </a:solidFill>
                <a:latin typeface="IBM Plex Sans"/>
                <a:ea typeface="IBM Plex Sans"/>
                <a:cs typeface="IBM Plex Sans"/>
                <a:sym typeface="IBM Plex Sans"/>
              </a:rPr>
              <a:t>Looking forward to in-depth conversations with you</a:t>
            </a:r>
            <a:endParaRPr sz="17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2024-12-04T02:02:33Z</dcterms:created>
  <dc:creator>PptxGenJS</dc:creator>
</cp:coreProperties>
</file>